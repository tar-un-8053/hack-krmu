
<file path=[Content_Types].xml><?xml version="1.0" encoding="utf-8"?>
<Types xmlns="http://schemas.openxmlformats.org/package/2006/content-types">
  <Default Extension="fntdata" ContentType="application/x-fontdata"/>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69" r:id="rId2"/>
    <p:sldId id="256" r:id="rId3"/>
    <p:sldId id="257" r:id="rId4"/>
    <p:sldId id="258" r:id="rId5"/>
    <p:sldId id="259" r:id="rId6"/>
    <p:sldId id="260" r:id="rId7"/>
    <p:sldId id="261" r:id="rId8"/>
    <p:sldId id="262" r:id="rId9"/>
    <p:sldId id="263" r:id="rId10"/>
    <p:sldId id="264" r:id="rId11"/>
    <p:sldId id="265" r:id="rId12"/>
    <p:sldId id="267" r:id="rId13"/>
  </p:sldIdLst>
  <p:sldSz cx="14630400" cy="8229600"/>
  <p:notesSz cx="8229600" cy="14630400"/>
  <p:embeddedFontLst>
    <p:embeddedFont>
      <p:font typeface="Roboto" panose="02000000000000000000" pitchFamily="2" charset="0"/>
      <p:regular r:id="rId15"/>
      <p:bold r:id="rId16"/>
      <p:italic r:id="rId17"/>
      <p:boldItalic r:id="rId18"/>
    </p:embeddedFont>
    <p:embeddedFont>
      <p:font typeface="Saira Medium" panose="020B0604020202020204" charset="0"/>
      <p:regular r:id="rId19"/>
    </p:embeddedFont>
    <p:embeddedFont>
      <p:font typeface="Trebuchet MS" panose="020B0603020202020204" pitchFamily="34" charset="0"/>
      <p:regular r:id="rId20"/>
      <p:bold r:id="rId21"/>
      <p:italic r:id="rId22"/>
      <p:boldItalic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2" d="100"/>
          <a:sy n="62" d="100"/>
        </p:scale>
        <p:origin x="984"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94043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jpg"/><Relationship Id="rId4"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30303">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30303">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30303">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30303">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30303">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30303">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30303">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30303">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30303">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30303">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30303">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30303">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obj">
  <p:cSld name="Title and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4630400" cy="8229600"/>
          </a:xfrm>
          <a:custGeom>
            <a:avLst/>
            <a:gdLst/>
            <a:ahLst/>
            <a:cxnLst/>
            <a:rect l="l" t="t" r="r" b="b"/>
            <a:pathLst>
              <a:path w="18288000" h="10287000">
                <a:moveTo>
                  <a:pt x="18287998" y="10286999"/>
                </a:moveTo>
                <a:lnTo>
                  <a:pt x="0" y="10286999"/>
                </a:lnTo>
                <a:lnTo>
                  <a:pt x="0" y="0"/>
                </a:lnTo>
                <a:lnTo>
                  <a:pt x="18287998" y="0"/>
                </a:lnTo>
                <a:lnTo>
                  <a:pt x="18287998" y="10286999"/>
                </a:lnTo>
                <a:close/>
              </a:path>
            </a:pathLst>
          </a:custGeom>
          <a:solidFill>
            <a:srgbClr val="000000"/>
          </a:solidFill>
        </p:spPr>
        <p:txBody>
          <a:bodyPr wrap="square" lIns="0" tIns="0" rIns="0" bIns="0" rtlCol="0"/>
          <a:lstStyle/>
          <a:p>
            <a:endParaRPr sz="1440"/>
          </a:p>
        </p:txBody>
      </p:sp>
      <p:pic>
        <p:nvPicPr>
          <p:cNvPr id="17" name="bg object 17"/>
          <p:cNvPicPr/>
          <p:nvPr/>
        </p:nvPicPr>
        <p:blipFill>
          <a:blip r:embed="rId2" cstate="print"/>
          <a:stretch>
            <a:fillRect/>
          </a:stretch>
        </p:blipFill>
        <p:spPr>
          <a:xfrm>
            <a:off x="464877" y="2193270"/>
            <a:ext cx="166611" cy="166425"/>
          </a:xfrm>
          <a:prstGeom prst="rect">
            <a:avLst/>
          </a:prstGeom>
        </p:spPr>
      </p:pic>
      <p:pic>
        <p:nvPicPr>
          <p:cNvPr id="18" name="bg object 18"/>
          <p:cNvPicPr/>
          <p:nvPr/>
        </p:nvPicPr>
        <p:blipFill>
          <a:blip r:embed="rId3" cstate="print"/>
          <a:stretch>
            <a:fillRect/>
          </a:stretch>
        </p:blipFill>
        <p:spPr>
          <a:xfrm>
            <a:off x="464877" y="3403360"/>
            <a:ext cx="166611" cy="166425"/>
          </a:xfrm>
          <a:prstGeom prst="rect">
            <a:avLst/>
          </a:prstGeom>
        </p:spPr>
      </p:pic>
      <p:pic>
        <p:nvPicPr>
          <p:cNvPr id="19" name="bg object 19"/>
          <p:cNvPicPr/>
          <p:nvPr/>
        </p:nvPicPr>
        <p:blipFill>
          <a:blip r:embed="rId4" cstate="print"/>
          <a:stretch>
            <a:fillRect/>
          </a:stretch>
        </p:blipFill>
        <p:spPr>
          <a:xfrm>
            <a:off x="464877" y="4730389"/>
            <a:ext cx="166611" cy="166425"/>
          </a:xfrm>
          <a:prstGeom prst="rect">
            <a:avLst/>
          </a:prstGeom>
        </p:spPr>
      </p:pic>
      <p:pic>
        <p:nvPicPr>
          <p:cNvPr id="20" name="bg object 20"/>
          <p:cNvPicPr/>
          <p:nvPr/>
        </p:nvPicPr>
        <p:blipFill>
          <a:blip r:embed="rId3" cstate="print"/>
          <a:stretch>
            <a:fillRect/>
          </a:stretch>
        </p:blipFill>
        <p:spPr>
          <a:xfrm>
            <a:off x="464877" y="5857640"/>
            <a:ext cx="166611" cy="166425"/>
          </a:xfrm>
          <a:prstGeom prst="rect">
            <a:avLst/>
          </a:prstGeom>
        </p:spPr>
      </p:pic>
      <p:pic>
        <p:nvPicPr>
          <p:cNvPr id="21" name="bg object 21"/>
          <p:cNvPicPr/>
          <p:nvPr/>
        </p:nvPicPr>
        <p:blipFill>
          <a:blip r:embed="rId5" cstate="print"/>
          <a:stretch>
            <a:fillRect/>
          </a:stretch>
        </p:blipFill>
        <p:spPr>
          <a:xfrm>
            <a:off x="94895" y="107755"/>
            <a:ext cx="883919" cy="883919"/>
          </a:xfrm>
          <a:prstGeom prst="rect">
            <a:avLst/>
          </a:prstGeom>
        </p:spPr>
      </p:pic>
      <p:sp>
        <p:nvSpPr>
          <p:cNvPr id="2" name="Holder 2"/>
          <p:cNvSpPr>
            <a:spLocks noGrp="1"/>
          </p:cNvSpPr>
          <p:nvPr>
            <p:ph type="title"/>
          </p:nvPr>
        </p:nvSpPr>
        <p:spPr/>
        <p:txBody>
          <a:bodyPr lIns="0" tIns="0" rIns="0" bIns="0"/>
          <a:lstStyle>
            <a:lvl1pPr>
              <a:defRPr sz="3640" b="0" i="0">
                <a:solidFill>
                  <a:schemeClr val="bg1"/>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4245661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3.xml"/><Relationship Id="rId5" Type="http://schemas.openxmlformats.org/officeDocument/2006/relationships/image" Target="../media/image7.png"/><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F687D43-359B-4DC2-54E2-A1D97AF96D24}"/>
              </a:ext>
            </a:extLst>
          </p:cNvPr>
          <p:cNvSpPr>
            <a:spLocks noGrp="1"/>
          </p:cNvSpPr>
          <p:nvPr>
            <p:ph type="title"/>
          </p:nvPr>
        </p:nvSpPr>
        <p:spPr/>
        <p:txBody>
          <a:bodyPr/>
          <a:lstStyle/>
          <a:p>
            <a:endParaRPr lang="en-IN" sz="800" dirty="0">
              <a:solidFill>
                <a:schemeClr val="tx1"/>
              </a:solidFill>
            </a:endParaRPr>
          </a:p>
        </p:txBody>
      </p:sp>
      <p:sp>
        <p:nvSpPr>
          <p:cNvPr id="2" name="object 2"/>
          <p:cNvSpPr txBox="1"/>
          <p:nvPr/>
        </p:nvSpPr>
        <p:spPr>
          <a:xfrm>
            <a:off x="966980" y="295439"/>
            <a:ext cx="3308458" cy="448840"/>
          </a:xfrm>
          <a:prstGeom prst="rect">
            <a:avLst/>
          </a:prstGeom>
        </p:spPr>
        <p:txBody>
          <a:bodyPr vert="horz" wrap="square" lIns="0" tIns="11683" rIns="0" bIns="0" rtlCol="0">
            <a:spAutoFit/>
          </a:bodyPr>
          <a:lstStyle/>
          <a:p>
            <a:pPr marL="10160">
              <a:spcBef>
                <a:spcPts val="91"/>
              </a:spcBef>
            </a:pPr>
            <a:r>
              <a:rPr sz="2840" spc="352" dirty="0">
                <a:solidFill>
                  <a:srgbClr val="FFFFFF"/>
                </a:solidFill>
                <a:latin typeface="Trebuchet MS"/>
                <a:cs typeface="Trebuchet MS"/>
              </a:rPr>
              <a:t>HACK</a:t>
            </a:r>
            <a:r>
              <a:rPr sz="2840" spc="-76" dirty="0">
                <a:solidFill>
                  <a:srgbClr val="FFFFFF"/>
                </a:solidFill>
                <a:latin typeface="Trebuchet MS"/>
                <a:cs typeface="Trebuchet MS"/>
              </a:rPr>
              <a:t> </a:t>
            </a:r>
            <a:r>
              <a:rPr sz="2840" spc="284" dirty="0">
                <a:solidFill>
                  <a:srgbClr val="FFFFFF"/>
                </a:solidFill>
                <a:latin typeface="Trebuchet MS"/>
                <a:cs typeface="Trebuchet MS"/>
              </a:rPr>
              <a:t>KRMU</a:t>
            </a:r>
            <a:r>
              <a:rPr sz="2840" spc="-72" dirty="0">
                <a:solidFill>
                  <a:srgbClr val="FFFFFF"/>
                </a:solidFill>
                <a:latin typeface="Trebuchet MS"/>
                <a:cs typeface="Trebuchet MS"/>
              </a:rPr>
              <a:t> </a:t>
            </a:r>
            <a:r>
              <a:rPr sz="2840" spc="64" dirty="0">
                <a:solidFill>
                  <a:srgbClr val="FFFFFF"/>
                </a:solidFill>
                <a:latin typeface="Trebuchet MS"/>
                <a:cs typeface="Trebuchet MS"/>
              </a:rPr>
              <a:t>5.0</a:t>
            </a:r>
            <a:endParaRPr sz="2840" dirty="0">
              <a:latin typeface="Trebuchet MS"/>
              <a:cs typeface="Trebuchet MS"/>
            </a:endParaRPr>
          </a:p>
        </p:txBody>
      </p:sp>
      <p:sp>
        <p:nvSpPr>
          <p:cNvPr id="5" name="object 5"/>
          <p:cNvSpPr txBox="1"/>
          <p:nvPr/>
        </p:nvSpPr>
        <p:spPr>
          <a:xfrm>
            <a:off x="13989814" y="7584857"/>
            <a:ext cx="344932" cy="346249"/>
          </a:xfrm>
          <a:prstGeom prst="rect">
            <a:avLst/>
          </a:prstGeom>
        </p:spPr>
        <p:txBody>
          <a:bodyPr vert="horz" wrap="square" lIns="0" tIns="0" rIns="0" bIns="0" rtlCol="0">
            <a:spAutoFit/>
          </a:bodyPr>
          <a:lstStyle/>
          <a:p>
            <a:pPr marL="10160">
              <a:lnSpc>
                <a:spcPts val="2696"/>
              </a:lnSpc>
            </a:pPr>
            <a:r>
              <a:rPr sz="2280" spc="48" dirty="0">
                <a:solidFill>
                  <a:srgbClr val="FFFFFF"/>
                </a:solidFill>
                <a:latin typeface="Trebuchet MS"/>
                <a:cs typeface="Trebuchet MS"/>
              </a:rPr>
              <a:t>01</a:t>
            </a:r>
            <a:endParaRPr sz="2280">
              <a:latin typeface="Trebuchet MS"/>
              <a:cs typeface="Trebuchet MS"/>
            </a:endParaRPr>
          </a:p>
        </p:txBody>
      </p:sp>
      <p:sp>
        <p:nvSpPr>
          <p:cNvPr id="4" name="object 4"/>
          <p:cNvSpPr txBox="1"/>
          <p:nvPr/>
        </p:nvSpPr>
        <p:spPr>
          <a:xfrm>
            <a:off x="803272" y="3161590"/>
            <a:ext cx="11398888" cy="3798010"/>
          </a:xfrm>
          <a:prstGeom prst="rect">
            <a:avLst/>
          </a:prstGeom>
        </p:spPr>
        <p:txBody>
          <a:bodyPr vert="horz" wrap="square" lIns="0" tIns="11176" rIns="0" bIns="0" rtlCol="0">
            <a:spAutoFit/>
          </a:bodyPr>
          <a:lstStyle/>
          <a:p>
            <a:pPr marL="10160">
              <a:spcBef>
                <a:spcPts val="88"/>
              </a:spcBef>
            </a:pPr>
            <a:r>
              <a:rPr sz="3360" spc="168" dirty="0">
                <a:solidFill>
                  <a:srgbClr val="FFFFFF"/>
                </a:solidFill>
                <a:latin typeface="Trebuchet MS"/>
                <a:cs typeface="Trebuchet MS"/>
              </a:rPr>
              <a:t>Team</a:t>
            </a:r>
            <a:r>
              <a:rPr sz="3360" spc="-104" dirty="0">
                <a:solidFill>
                  <a:srgbClr val="FFFFFF"/>
                </a:solidFill>
                <a:latin typeface="Trebuchet MS"/>
                <a:cs typeface="Trebuchet MS"/>
              </a:rPr>
              <a:t> </a:t>
            </a:r>
            <a:r>
              <a:rPr sz="3360" spc="284" dirty="0">
                <a:solidFill>
                  <a:srgbClr val="FFFFFF"/>
                </a:solidFill>
                <a:latin typeface="Trebuchet MS"/>
                <a:cs typeface="Trebuchet MS"/>
              </a:rPr>
              <a:t>Name</a:t>
            </a:r>
            <a:r>
              <a:rPr sz="3360" spc="-104" dirty="0">
                <a:solidFill>
                  <a:srgbClr val="FFFFFF"/>
                </a:solidFill>
                <a:latin typeface="Trebuchet MS"/>
                <a:cs typeface="Trebuchet MS"/>
              </a:rPr>
              <a:t> </a:t>
            </a:r>
            <a:r>
              <a:rPr sz="3360" spc="-40" dirty="0">
                <a:solidFill>
                  <a:srgbClr val="FFFFFF"/>
                </a:solidFill>
                <a:latin typeface="Trebuchet MS"/>
                <a:cs typeface="Trebuchet MS"/>
              </a:rPr>
              <a:t>:</a:t>
            </a:r>
            <a:r>
              <a:rPr lang="en-IN" sz="3360" spc="-40" dirty="0">
                <a:solidFill>
                  <a:srgbClr val="FFFFFF"/>
                </a:solidFill>
                <a:latin typeface="Trebuchet MS"/>
                <a:cs typeface="Trebuchet MS"/>
              </a:rPr>
              <a:t> Codify</a:t>
            </a:r>
            <a:endParaRPr sz="3360" dirty="0">
              <a:latin typeface="Trebuchet MS"/>
              <a:cs typeface="Trebuchet MS"/>
            </a:endParaRPr>
          </a:p>
          <a:p>
            <a:pPr>
              <a:spcBef>
                <a:spcPts val="2512"/>
              </a:spcBef>
            </a:pPr>
            <a:endParaRPr sz="3360" dirty="0">
              <a:latin typeface="Trebuchet MS"/>
              <a:cs typeface="Trebuchet MS"/>
            </a:endParaRPr>
          </a:p>
          <a:p>
            <a:pPr marL="10160"/>
            <a:r>
              <a:rPr sz="3800" spc="248" dirty="0">
                <a:solidFill>
                  <a:srgbClr val="FFFFFF"/>
                </a:solidFill>
                <a:latin typeface="Trebuchet MS"/>
                <a:cs typeface="Trebuchet MS"/>
              </a:rPr>
              <a:t>TEAM</a:t>
            </a:r>
            <a:r>
              <a:rPr sz="3800" spc="-116" dirty="0">
                <a:solidFill>
                  <a:srgbClr val="FFFFFF"/>
                </a:solidFill>
                <a:latin typeface="Trebuchet MS"/>
                <a:cs typeface="Trebuchet MS"/>
              </a:rPr>
              <a:t> </a:t>
            </a:r>
            <a:r>
              <a:rPr sz="3800" spc="540" dirty="0">
                <a:solidFill>
                  <a:srgbClr val="FFFFFF"/>
                </a:solidFill>
                <a:latin typeface="Trebuchet MS"/>
                <a:cs typeface="Trebuchet MS"/>
              </a:rPr>
              <a:t>ID</a:t>
            </a:r>
            <a:r>
              <a:rPr sz="3800" spc="-112" dirty="0">
                <a:solidFill>
                  <a:srgbClr val="FFFFFF"/>
                </a:solidFill>
                <a:latin typeface="Trebuchet MS"/>
                <a:cs typeface="Trebuchet MS"/>
              </a:rPr>
              <a:t> </a:t>
            </a:r>
            <a:r>
              <a:rPr sz="3800" spc="-264" dirty="0">
                <a:solidFill>
                  <a:srgbClr val="FFFFFF"/>
                </a:solidFill>
                <a:latin typeface="Trebuchet MS"/>
                <a:cs typeface="Trebuchet MS"/>
              </a:rPr>
              <a:t>:</a:t>
            </a:r>
            <a:r>
              <a:rPr lang="en-IN" sz="3800" spc="-264" dirty="0">
                <a:solidFill>
                  <a:srgbClr val="FFFFFF"/>
                </a:solidFill>
                <a:latin typeface="Trebuchet MS"/>
                <a:cs typeface="Trebuchet MS"/>
              </a:rPr>
              <a:t> HK137</a:t>
            </a:r>
            <a:endParaRPr sz="3800" dirty="0">
              <a:latin typeface="Trebuchet MS"/>
              <a:cs typeface="Trebuchet MS"/>
            </a:endParaRPr>
          </a:p>
          <a:p>
            <a:pPr marL="19304">
              <a:spcBef>
                <a:spcPts val="4320"/>
              </a:spcBef>
            </a:pPr>
            <a:r>
              <a:rPr sz="3800" spc="248" dirty="0">
                <a:solidFill>
                  <a:srgbClr val="FFFFFF"/>
                </a:solidFill>
                <a:latin typeface="Trebuchet MS"/>
                <a:cs typeface="Trebuchet MS"/>
              </a:rPr>
              <a:t>TEAM</a:t>
            </a:r>
            <a:r>
              <a:rPr sz="3800" spc="-104" dirty="0">
                <a:solidFill>
                  <a:srgbClr val="FFFFFF"/>
                </a:solidFill>
                <a:latin typeface="Trebuchet MS"/>
                <a:cs typeface="Trebuchet MS"/>
              </a:rPr>
              <a:t> </a:t>
            </a:r>
            <a:r>
              <a:rPr sz="3800" spc="352" dirty="0">
                <a:solidFill>
                  <a:srgbClr val="FFFFFF"/>
                </a:solidFill>
                <a:latin typeface="Trebuchet MS"/>
                <a:cs typeface="Trebuchet MS"/>
              </a:rPr>
              <a:t>MEMBERS</a:t>
            </a:r>
            <a:r>
              <a:rPr sz="3800" spc="-100" dirty="0">
                <a:solidFill>
                  <a:srgbClr val="FFFFFF"/>
                </a:solidFill>
                <a:latin typeface="Trebuchet MS"/>
                <a:cs typeface="Trebuchet MS"/>
              </a:rPr>
              <a:t> </a:t>
            </a:r>
            <a:r>
              <a:rPr sz="3800" spc="-264" dirty="0">
                <a:solidFill>
                  <a:srgbClr val="FFFFFF"/>
                </a:solidFill>
                <a:latin typeface="Trebuchet MS"/>
                <a:cs typeface="Trebuchet MS"/>
              </a:rPr>
              <a:t>:</a:t>
            </a:r>
            <a:r>
              <a:rPr lang="en-IN" sz="3800" spc="-264" dirty="0">
                <a:solidFill>
                  <a:srgbClr val="FFFFFF"/>
                </a:solidFill>
                <a:latin typeface="Trebuchet MS"/>
                <a:cs typeface="Trebuchet MS"/>
              </a:rPr>
              <a:t> Lakshay Sharma, Tarun, 							    Anmol Tyagi, Mohammad Zaid </a:t>
            </a:r>
            <a:endParaRPr sz="3800" dirty="0">
              <a:latin typeface="Trebuchet MS"/>
              <a:cs typeface="Trebuchet MS"/>
            </a:endParaRPr>
          </a:p>
        </p:txBody>
      </p:sp>
      <p:sp>
        <p:nvSpPr>
          <p:cNvPr id="9" name="TextBox 8">
            <a:extLst>
              <a:ext uri="{FF2B5EF4-FFF2-40B4-BE49-F238E27FC236}">
                <a16:creationId xmlns:a16="http://schemas.microsoft.com/office/drawing/2014/main" id="{DC11E189-053F-93C1-4A96-8286BC99DBFE}"/>
              </a:ext>
            </a:extLst>
          </p:cNvPr>
          <p:cNvSpPr txBox="1"/>
          <p:nvPr/>
        </p:nvSpPr>
        <p:spPr>
          <a:xfrm>
            <a:off x="948440" y="2035128"/>
            <a:ext cx="6956040" cy="609398"/>
          </a:xfrm>
          <a:prstGeom prst="rect">
            <a:avLst/>
          </a:prstGeom>
          <a:noFill/>
        </p:spPr>
        <p:txBody>
          <a:bodyPr wrap="square" rtlCol="0">
            <a:spAutoFit/>
          </a:bodyPr>
          <a:lstStyle/>
          <a:p>
            <a:r>
              <a:rPr lang="en-IN" sz="3360" dirty="0">
                <a:solidFill>
                  <a:schemeClr val="bg1"/>
                </a:solidFill>
                <a:latin typeface="Trebuchet MS" panose="020B0603020202020204" pitchFamily="34" charset="0"/>
              </a:rPr>
              <a:t>PROBLEM</a:t>
            </a:r>
            <a:r>
              <a:rPr lang="en-IN" sz="3360" dirty="0">
                <a:solidFill>
                  <a:schemeClr val="bg1"/>
                </a:solidFill>
              </a:rPr>
              <a:t> STATEMENT ID: PS5</a:t>
            </a:r>
          </a:p>
        </p:txBody>
      </p:sp>
    </p:spTree>
    <p:extLst>
      <p:ext uri="{BB962C8B-B14F-4D97-AF65-F5344CB8AC3E}">
        <p14:creationId xmlns:p14="http://schemas.microsoft.com/office/powerpoint/2010/main" val="20328344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74949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FFFFFF"/>
                </a:solidFill>
                <a:latin typeface="Saira Medium" pitchFamily="34" charset="0"/>
                <a:ea typeface="Saira Medium" pitchFamily="34" charset="-122"/>
                <a:cs typeface="Saira Medium" pitchFamily="34" charset="-120"/>
              </a:rPr>
              <a:t>HACK KRMU 5.0</a:t>
            </a:r>
            <a:endParaRPr lang="en-US" sz="2200" dirty="0"/>
          </a:p>
        </p:txBody>
      </p:sp>
      <p:sp>
        <p:nvSpPr>
          <p:cNvPr id="3" name="Text 1"/>
          <p:cNvSpPr/>
          <p:nvPr/>
        </p:nvSpPr>
        <p:spPr>
          <a:xfrm>
            <a:off x="1145858" y="1443990"/>
            <a:ext cx="12338685" cy="1417677"/>
          </a:xfrm>
          <a:prstGeom prst="rect">
            <a:avLst/>
          </a:prstGeom>
          <a:noFill/>
          <a:ln/>
        </p:spPr>
        <p:txBody>
          <a:bodyPr wrap="none" lIns="0" tIns="0" rIns="0" bIns="0" rtlCol="0" anchor="t"/>
          <a:lstStyle/>
          <a:p>
            <a:pPr marL="0" indent="0" algn="ctr">
              <a:lnSpc>
                <a:spcPts val="11150"/>
              </a:lnSpc>
              <a:buNone/>
            </a:pPr>
            <a:r>
              <a:rPr lang="en-US" sz="8900" dirty="0">
                <a:solidFill>
                  <a:srgbClr val="FFFFFF"/>
                </a:solidFill>
                <a:latin typeface="Saira Medium" pitchFamily="34" charset="0"/>
                <a:ea typeface="Saira Medium" pitchFamily="34" charset="-122"/>
                <a:cs typeface="Saira Medium" pitchFamily="34" charset="-120"/>
              </a:rPr>
              <a:t>PROBLEM &amp; SOLUTION</a:t>
            </a:r>
            <a:endParaRPr lang="en-US" sz="8900" dirty="0"/>
          </a:p>
        </p:txBody>
      </p:sp>
      <p:sp>
        <p:nvSpPr>
          <p:cNvPr id="4" name="Text 2"/>
          <p:cNvSpPr/>
          <p:nvPr/>
        </p:nvSpPr>
        <p:spPr>
          <a:xfrm>
            <a:off x="793790" y="3201829"/>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pitchFamily="34" charset="0"/>
                <a:ea typeface="Roboto" pitchFamily="34" charset="-122"/>
                <a:cs typeface="Roboto" pitchFamily="34" charset="-120"/>
              </a:rPr>
              <a:t>Water-borne diseases—Cholera, Typhoid and acute diarrhoea—cause sudden outbreaks in areas with inconsistent water monitoring. Detection often occurs only after communities fall ill, leaving authorities reactive rather than preventive.</a:t>
            </a:r>
            <a:endParaRPr lang="en-US" sz="1750" dirty="0"/>
          </a:p>
        </p:txBody>
      </p:sp>
      <p:sp>
        <p:nvSpPr>
          <p:cNvPr id="5" name="Shape 3"/>
          <p:cNvSpPr/>
          <p:nvPr/>
        </p:nvSpPr>
        <p:spPr>
          <a:xfrm>
            <a:off x="793790" y="4182785"/>
            <a:ext cx="6407944" cy="2679263"/>
          </a:xfrm>
          <a:prstGeom prst="roundRect">
            <a:avLst>
              <a:gd name="adj" fmla="val 7619"/>
            </a:avLst>
          </a:prstGeom>
          <a:solidFill>
            <a:srgbClr val="030303"/>
          </a:solidFill>
          <a:ln w="22860">
            <a:solidFill>
              <a:srgbClr val="FC8337"/>
            </a:solidFill>
            <a:prstDash val="solid"/>
          </a:ln>
        </p:spPr>
        <p:txBody>
          <a:bodyPr/>
          <a:lstStyle/>
          <a:p>
            <a:endParaRPr lang="en-IN"/>
          </a:p>
        </p:txBody>
      </p:sp>
      <p:sp>
        <p:nvSpPr>
          <p:cNvPr id="6" name="Text 4"/>
          <p:cNvSpPr/>
          <p:nvPr/>
        </p:nvSpPr>
        <p:spPr>
          <a:xfrm>
            <a:off x="1043464" y="443245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Saira Medium" pitchFamily="34" charset="0"/>
                <a:ea typeface="Saira Medium" pitchFamily="34" charset="-122"/>
                <a:cs typeface="Saira Medium" pitchFamily="34" charset="-120"/>
              </a:rPr>
              <a:t>Key Issues</a:t>
            </a:r>
            <a:endParaRPr lang="en-US" sz="2200" dirty="0"/>
          </a:p>
        </p:txBody>
      </p:sp>
      <p:sp>
        <p:nvSpPr>
          <p:cNvPr id="7" name="Text 5"/>
          <p:cNvSpPr/>
          <p:nvPr/>
        </p:nvSpPr>
        <p:spPr>
          <a:xfrm>
            <a:off x="1043464" y="4922877"/>
            <a:ext cx="5908596" cy="1689497"/>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E5E0DF"/>
                </a:solidFill>
                <a:latin typeface="Roboto" pitchFamily="34" charset="0"/>
                <a:ea typeface="Roboto" pitchFamily="34" charset="-122"/>
                <a:cs typeface="Roboto" pitchFamily="34" charset="-120"/>
              </a:rPr>
              <a:t>Contamination detected post‑illness</a:t>
            </a:r>
            <a:endParaRPr lang="en-US" sz="1750" dirty="0"/>
          </a:p>
          <a:p>
            <a:pPr marL="342900" indent="-342900" algn="l">
              <a:lnSpc>
                <a:spcPts val="2850"/>
              </a:lnSpc>
              <a:buSzPct val="100000"/>
              <a:buChar char="•"/>
            </a:pPr>
            <a:r>
              <a:rPr lang="en-US" sz="1750" dirty="0">
                <a:solidFill>
                  <a:srgbClr val="E5E0DF"/>
                </a:solidFill>
                <a:latin typeface="Roboto" pitchFamily="34" charset="0"/>
                <a:ea typeface="Roboto" pitchFamily="34" charset="-122"/>
                <a:cs typeface="Roboto" pitchFamily="34" charset="-120"/>
              </a:rPr>
              <a:t>Hospital spikes used as reaction signals</a:t>
            </a:r>
            <a:endParaRPr lang="en-US" sz="1750" dirty="0"/>
          </a:p>
          <a:p>
            <a:pPr marL="342900" indent="-342900" algn="l">
              <a:lnSpc>
                <a:spcPts val="2850"/>
              </a:lnSpc>
              <a:buSzPct val="100000"/>
              <a:buChar char="•"/>
            </a:pPr>
            <a:r>
              <a:rPr lang="en-US" sz="1750" dirty="0">
                <a:solidFill>
                  <a:srgbClr val="E5E0DF"/>
                </a:solidFill>
                <a:latin typeface="Roboto" pitchFamily="34" charset="0"/>
                <a:ea typeface="Roboto" pitchFamily="34" charset="-122"/>
                <a:cs typeface="Roboto" pitchFamily="34" charset="-120"/>
              </a:rPr>
              <a:t>Water and health data live in silos</a:t>
            </a:r>
            <a:endParaRPr lang="en-US" sz="1750" dirty="0"/>
          </a:p>
          <a:p>
            <a:pPr marL="342900" indent="-342900" algn="l">
              <a:lnSpc>
                <a:spcPts val="2850"/>
              </a:lnSpc>
              <a:buSzPct val="100000"/>
              <a:buChar char="•"/>
            </a:pPr>
            <a:r>
              <a:rPr lang="en-US" sz="1750" dirty="0">
                <a:solidFill>
                  <a:srgbClr val="E5E0DF"/>
                </a:solidFill>
                <a:latin typeface="Roboto" pitchFamily="34" charset="0"/>
                <a:ea typeface="Roboto" pitchFamily="34" charset="-122"/>
                <a:cs typeface="Roboto" pitchFamily="34" charset="-120"/>
              </a:rPr>
              <a:t>No early warning linking contamination to outbreak risk</a:t>
            </a:r>
            <a:endParaRPr lang="en-US" sz="1750" dirty="0"/>
          </a:p>
        </p:txBody>
      </p:sp>
      <p:sp>
        <p:nvSpPr>
          <p:cNvPr id="8" name="Shape 6"/>
          <p:cNvSpPr/>
          <p:nvPr/>
        </p:nvSpPr>
        <p:spPr>
          <a:xfrm>
            <a:off x="7428548" y="4182785"/>
            <a:ext cx="6408063" cy="2679263"/>
          </a:xfrm>
          <a:prstGeom prst="roundRect">
            <a:avLst>
              <a:gd name="adj" fmla="val 7619"/>
            </a:avLst>
          </a:prstGeom>
          <a:solidFill>
            <a:srgbClr val="030303"/>
          </a:solidFill>
          <a:ln w="22860">
            <a:solidFill>
              <a:srgbClr val="FC8337"/>
            </a:solidFill>
            <a:prstDash val="solid"/>
          </a:ln>
        </p:spPr>
        <p:txBody>
          <a:bodyPr/>
          <a:lstStyle/>
          <a:p>
            <a:endParaRPr lang="en-IN"/>
          </a:p>
        </p:txBody>
      </p:sp>
      <p:sp>
        <p:nvSpPr>
          <p:cNvPr id="9" name="Text 7"/>
          <p:cNvSpPr/>
          <p:nvPr/>
        </p:nvSpPr>
        <p:spPr>
          <a:xfrm>
            <a:off x="7678222" y="443245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Saira Medium" pitchFamily="34" charset="0"/>
                <a:ea typeface="Saira Medium" pitchFamily="34" charset="-122"/>
                <a:cs typeface="Saira Medium" pitchFamily="34" charset="-120"/>
              </a:rPr>
              <a:t>Impact</a:t>
            </a:r>
            <a:endParaRPr lang="en-US" sz="2200" dirty="0"/>
          </a:p>
        </p:txBody>
      </p:sp>
      <p:sp>
        <p:nvSpPr>
          <p:cNvPr id="10" name="Text 8"/>
          <p:cNvSpPr/>
          <p:nvPr/>
        </p:nvSpPr>
        <p:spPr>
          <a:xfrm>
            <a:off x="7678222" y="4922877"/>
            <a:ext cx="5908715" cy="1247299"/>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E5E0DF"/>
                </a:solidFill>
                <a:latin typeface="Roboto" pitchFamily="34" charset="0"/>
                <a:ea typeface="Roboto" pitchFamily="34" charset="-122"/>
                <a:cs typeface="Roboto" pitchFamily="34" charset="-120"/>
              </a:rPr>
              <a:t>Delayed government response</a:t>
            </a:r>
            <a:endParaRPr lang="en-US" sz="1750" dirty="0"/>
          </a:p>
          <a:p>
            <a:pPr marL="342900" indent="-342900" algn="l">
              <a:lnSpc>
                <a:spcPts val="2850"/>
              </a:lnSpc>
              <a:buSzPct val="100000"/>
              <a:buChar char="•"/>
            </a:pPr>
            <a:r>
              <a:rPr lang="en-US" sz="1750" dirty="0">
                <a:solidFill>
                  <a:srgbClr val="E5E0DF"/>
                </a:solidFill>
                <a:latin typeface="Roboto" pitchFamily="34" charset="0"/>
                <a:ea typeface="Roboto" pitchFamily="34" charset="-122"/>
                <a:cs typeface="Roboto" pitchFamily="34" charset="-120"/>
              </a:rPr>
              <a:t>Overburdened hospitals</a:t>
            </a:r>
            <a:endParaRPr lang="en-US" sz="1750" dirty="0"/>
          </a:p>
          <a:p>
            <a:pPr marL="342900" indent="-342900" algn="l">
              <a:lnSpc>
                <a:spcPts val="2850"/>
              </a:lnSpc>
              <a:buSzPct val="100000"/>
              <a:buChar char="•"/>
            </a:pPr>
            <a:r>
              <a:rPr lang="en-US" sz="1750" dirty="0">
                <a:solidFill>
                  <a:srgbClr val="E5E0DF"/>
                </a:solidFill>
                <a:latin typeface="Roboto" pitchFamily="34" charset="0"/>
                <a:ea typeface="Roboto" pitchFamily="34" charset="-122"/>
                <a:cs typeface="Roboto" pitchFamily="34" charset="-120"/>
              </a:rPr>
              <a:t>Higher community health risk</a:t>
            </a:r>
            <a:endParaRPr lang="en-US" sz="1750" dirty="0"/>
          </a:p>
        </p:txBody>
      </p:sp>
      <p:sp>
        <p:nvSpPr>
          <p:cNvPr id="11" name="Text 9"/>
          <p:cNvSpPr/>
          <p:nvPr/>
        </p:nvSpPr>
        <p:spPr>
          <a:xfrm>
            <a:off x="793790" y="7117199"/>
            <a:ext cx="13042821" cy="362903"/>
          </a:xfrm>
          <a:prstGeom prst="rect">
            <a:avLst/>
          </a:prstGeom>
          <a:noFill/>
          <a:ln/>
        </p:spPr>
        <p:txBody>
          <a:bodyPr wrap="none" lIns="0" tIns="0" rIns="0" bIns="0" rtlCol="0" anchor="t"/>
          <a:lstStyle/>
          <a:p>
            <a:pPr marL="0" indent="0" algn="r">
              <a:lnSpc>
                <a:spcPts val="2850"/>
              </a:lnSpc>
              <a:buNone/>
            </a:pPr>
            <a:r>
              <a:rPr lang="en-US" sz="1750" dirty="0">
                <a:solidFill>
                  <a:srgbClr val="E5E0DF"/>
                </a:solidFill>
                <a:latin typeface="Roboto" pitchFamily="34" charset="0"/>
                <a:ea typeface="Roboto" pitchFamily="34" charset="-122"/>
                <a:cs typeface="Roboto" pitchFamily="34" charset="-120"/>
              </a:rPr>
              <a:t> 02</a:t>
            </a:r>
            <a:endParaRPr lang="en-US" sz="1750" dirty="0"/>
          </a:p>
        </p:txBody>
      </p:sp>
      <p:sp>
        <p:nvSpPr>
          <p:cNvPr id="12" name="object 4">
            <a:extLst>
              <a:ext uri="{FF2B5EF4-FFF2-40B4-BE49-F238E27FC236}">
                <a16:creationId xmlns:a16="http://schemas.microsoft.com/office/drawing/2014/main" id="{F65F88CE-31C6-56CF-BD41-EF0B1F3557EA}"/>
              </a:ext>
            </a:extLst>
          </p:cNvPr>
          <p:cNvSpPr txBox="1">
            <a:spLocks/>
          </p:cNvSpPr>
          <p:nvPr/>
        </p:nvSpPr>
        <p:spPr>
          <a:xfrm>
            <a:off x="1208725" y="369298"/>
            <a:ext cx="3596004" cy="569594"/>
          </a:xfrm>
          <a:prstGeom prst="rect">
            <a:avLst/>
          </a:prstGeom>
        </p:spPr>
        <p:txBody>
          <a:bodyPr vert="horz" wrap="square" lIns="0" tIns="14604" rIns="0" bIns="0" rtlCol="0">
            <a:sp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12700">
              <a:spcBef>
                <a:spcPts val="114"/>
              </a:spcBef>
            </a:pPr>
            <a:r>
              <a:rPr lang="en-IN" sz="3550" spc="440" dirty="0"/>
              <a:t>HACK</a:t>
            </a:r>
            <a:r>
              <a:rPr lang="en-IN" sz="3550" spc="-95" dirty="0"/>
              <a:t> </a:t>
            </a:r>
            <a:r>
              <a:rPr lang="en-IN" sz="3550" spc="355" dirty="0"/>
              <a:t>KRMU</a:t>
            </a:r>
            <a:r>
              <a:rPr lang="en-IN" sz="3550" spc="-90" dirty="0"/>
              <a:t> </a:t>
            </a:r>
            <a:r>
              <a:rPr lang="en-IN" sz="3550" spc="80" dirty="0"/>
              <a:t>5.0</a:t>
            </a:r>
            <a:endParaRPr lang="en-IN" sz="3550" dirty="0"/>
          </a:p>
        </p:txBody>
      </p:sp>
      <p:pic>
        <p:nvPicPr>
          <p:cNvPr id="14" name="Picture 13">
            <a:extLst>
              <a:ext uri="{FF2B5EF4-FFF2-40B4-BE49-F238E27FC236}">
                <a16:creationId xmlns:a16="http://schemas.microsoft.com/office/drawing/2014/main" id="{A0E8EBB2-166D-1C7A-8D82-4A9FC972A62B}"/>
              </a:ext>
            </a:extLst>
          </p:cNvPr>
          <p:cNvPicPr>
            <a:picLocks noChangeAspect="1"/>
          </p:cNvPicPr>
          <p:nvPr/>
        </p:nvPicPr>
        <p:blipFill>
          <a:blip r:embed="rId3"/>
          <a:stretch>
            <a:fillRect/>
          </a:stretch>
        </p:blipFill>
        <p:spPr>
          <a:xfrm>
            <a:off x="174579" y="612294"/>
            <a:ext cx="619211" cy="62873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11" name="Text 9"/>
          <p:cNvSpPr/>
          <p:nvPr/>
        </p:nvSpPr>
        <p:spPr>
          <a:xfrm>
            <a:off x="3315414" y="2522899"/>
            <a:ext cx="2898338" cy="4748285"/>
          </a:xfrm>
          <a:prstGeom prst="rect">
            <a:avLst/>
          </a:prstGeom>
          <a:noFill/>
          <a:ln/>
        </p:spPr>
        <p:txBody>
          <a:bodyPr wrap="none" lIns="0" tIns="0" rIns="0" bIns="0" rtlCol="0" anchor="t"/>
          <a:lstStyle/>
          <a:p>
            <a:pPr marL="0" indent="0" algn="l">
              <a:lnSpc>
                <a:spcPts val="2850"/>
              </a:lnSpc>
              <a:buNone/>
            </a:pPr>
            <a:r>
              <a:rPr lang="en-US" sz="2250" dirty="0">
                <a:solidFill>
                  <a:srgbClr val="FFFFFF"/>
                </a:solidFill>
                <a:latin typeface="Saira Medium" pitchFamily="34" charset="0"/>
                <a:ea typeface="Saira Medium" pitchFamily="34" charset="-122"/>
                <a:cs typeface="Saira Medium" pitchFamily="34" charset="-120"/>
              </a:rPr>
              <a:t>Solution</a:t>
            </a:r>
            <a:endParaRPr lang="en-US" sz="2250" dirty="0"/>
          </a:p>
        </p:txBody>
      </p:sp>
      <p:sp>
        <p:nvSpPr>
          <p:cNvPr id="12" name="Text 10"/>
          <p:cNvSpPr/>
          <p:nvPr/>
        </p:nvSpPr>
        <p:spPr>
          <a:xfrm>
            <a:off x="3315414" y="4318422"/>
            <a:ext cx="7999571" cy="1837202"/>
          </a:xfrm>
          <a:prstGeom prst="rect">
            <a:avLst/>
          </a:prstGeom>
          <a:noFill/>
          <a:ln/>
        </p:spPr>
        <p:txBody>
          <a:bodyPr wrap="none" lIns="0" tIns="0" rIns="0" bIns="0" rtlCol="0" anchor="t"/>
          <a:lstStyle/>
          <a:p>
            <a:pPr marL="0" indent="0" algn="l">
              <a:lnSpc>
                <a:spcPts val="1100"/>
              </a:lnSpc>
              <a:buNone/>
            </a:pPr>
            <a:r>
              <a:rPr lang="en-US" sz="900" dirty="0">
                <a:solidFill>
                  <a:srgbClr val="E5E0DF"/>
                </a:solidFill>
                <a:latin typeface="Roboto" pitchFamily="34" charset="0"/>
                <a:ea typeface="Roboto" pitchFamily="34" charset="-122"/>
                <a:cs typeface="Roboto" pitchFamily="34" charset="-120"/>
              </a:rPr>
              <a:t>An AI-powered Early Warning System that:</a:t>
            </a:r>
            <a:endParaRPr lang="en-US" sz="900" dirty="0"/>
          </a:p>
        </p:txBody>
      </p:sp>
      <p:sp>
        <p:nvSpPr>
          <p:cNvPr id="13" name="Text 11"/>
          <p:cNvSpPr/>
          <p:nvPr/>
        </p:nvSpPr>
        <p:spPr>
          <a:xfrm>
            <a:off x="3315414" y="4496280"/>
            <a:ext cx="115848" cy="1899634"/>
          </a:xfrm>
          <a:prstGeom prst="rect">
            <a:avLst/>
          </a:prstGeom>
          <a:noFill/>
          <a:ln/>
        </p:spPr>
        <p:txBody>
          <a:bodyPr wrap="none" lIns="0" tIns="0" rIns="0" bIns="0" rtlCol="0" anchor="t"/>
          <a:lstStyle/>
          <a:p>
            <a:pPr marL="0" indent="0" algn="l">
              <a:lnSpc>
                <a:spcPts val="1100"/>
              </a:lnSpc>
              <a:buNone/>
            </a:pPr>
            <a:r>
              <a:rPr lang="en-US" sz="900" dirty="0">
                <a:solidFill>
                  <a:srgbClr val="E5E0DF"/>
                </a:solidFill>
                <a:latin typeface="Saira Light" pitchFamily="34" charset="0"/>
                <a:ea typeface="Saira Light" pitchFamily="34" charset="-122"/>
                <a:cs typeface="Saira Light" pitchFamily="34" charset="-120"/>
              </a:rPr>
              <a:t>01</a:t>
            </a:r>
            <a:endParaRPr lang="en-US" sz="900" dirty="0"/>
          </a:p>
        </p:txBody>
      </p:sp>
      <p:sp>
        <p:nvSpPr>
          <p:cNvPr id="14" name="Shape 12"/>
          <p:cNvSpPr/>
          <p:nvPr/>
        </p:nvSpPr>
        <p:spPr>
          <a:xfrm>
            <a:off x="3315414" y="5463062"/>
            <a:ext cx="2626995" cy="199791"/>
          </a:xfrm>
          <a:prstGeom prst="rect">
            <a:avLst/>
          </a:prstGeom>
          <a:solidFill>
            <a:srgbClr val="FC8337"/>
          </a:solidFill>
          <a:ln/>
        </p:spPr>
        <p:txBody>
          <a:bodyPr/>
          <a:lstStyle/>
          <a:p>
            <a:endParaRPr lang="en-IN"/>
          </a:p>
        </p:txBody>
      </p:sp>
      <p:sp>
        <p:nvSpPr>
          <p:cNvPr id="15" name="Text 13"/>
          <p:cNvSpPr/>
          <p:nvPr/>
        </p:nvSpPr>
        <p:spPr>
          <a:xfrm>
            <a:off x="3315414" y="3450634"/>
            <a:ext cx="2626995" cy="4748285"/>
          </a:xfrm>
          <a:prstGeom prst="rect">
            <a:avLst/>
          </a:prstGeom>
          <a:noFill/>
          <a:ln/>
        </p:spPr>
        <p:txBody>
          <a:bodyPr wrap="square" lIns="0" tIns="0" rIns="0" bIns="0" rtlCol="0" anchor="t"/>
          <a:lstStyle/>
          <a:p>
            <a:pPr marL="0" indent="0" algn="l">
              <a:lnSpc>
                <a:spcPts val="1400"/>
              </a:lnSpc>
              <a:buNone/>
            </a:pPr>
            <a:r>
              <a:rPr lang="en-US" sz="1100" dirty="0">
                <a:solidFill>
                  <a:srgbClr val="E5E0DF"/>
                </a:solidFill>
                <a:latin typeface="Saira Medium" pitchFamily="34" charset="0"/>
                <a:ea typeface="Saira Medium" pitchFamily="34" charset="-122"/>
                <a:cs typeface="Saira Medium" pitchFamily="34" charset="-120"/>
              </a:rPr>
              <a:t>Monitors water contamination indicators</a:t>
            </a:r>
            <a:endParaRPr lang="en-US" sz="1100" dirty="0"/>
          </a:p>
        </p:txBody>
      </p:sp>
      <p:sp>
        <p:nvSpPr>
          <p:cNvPr id="16" name="Text 14"/>
          <p:cNvSpPr/>
          <p:nvPr/>
        </p:nvSpPr>
        <p:spPr>
          <a:xfrm>
            <a:off x="6001583" y="4496280"/>
            <a:ext cx="115848" cy="1899634"/>
          </a:xfrm>
          <a:prstGeom prst="rect">
            <a:avLst/>
          </a:prstGeom>
          <a:noFill/>
          <a:ln/>
        </p:spPr>
        <p:txBody>
          <a:bodyPr wrap="none" lIns="0" tIns="0" rIns="0" bIns="0" rtlCol="0" anchor="t"/>
          <a:lstStyle/>
          <a:p>
            <a:pPr marL="0" indent="0" algn="l">
              <a:lnSpc>
                <a:spcPts val="1100"/>
              </a:lnSpc>
              <a:buNone/>
            </a:pPr>
            <a:r>
              <a:rPr lang="en-US" sz="900" dirty="0">
                <a:solidFill>
                  <a:srgbClr val="E5E0DF"/>
                </a:solidFill>
                <a:latin typeface="Saira Light" pitchFamily="34" charset="0"/>
                <a:ea typeface="Saira Light" pitchFamily="34" charset="-122"/>
                <a:cs typeface="Saira Light" pitchFamily="34" charset="-120"/>
              </a:rPr>
              <a:t>02</a:t>
            </a:r>
            <a:endParaRPr lang="en-US" sz="900" dirty="0"/>
          </a:p>
        </p:txBody>
      </p:sp>
      <p:sp>
        <p:nvSpPr>
          <p:cNvPr id="17" name="Shape 15"/>
          <p:cNvSpPr/>
          <p:nvPr/>
        </p:nvSpPr>
        <p:spPr>
          <a:xfrm>
            <a:off x="6001583" y="5463062"/>
            <a:ext cx="2627114" cy="199791"/>
          </a:xfrm>
          <a:prstGeom prst="rect">
            <a:avLst/>
          </a:prstGeom>
          <a:solidFill>
            <a:srgbClr val="FC8337"/>
          </a:solidFill>
          <a:ln/>
        </p:spPr>
        <p:txBody>
          <a:bodyPr/>
          <a:lstStyle/>
          <a:p>
            <a:endParaRPr lang="en-IN"/>
          </a:p>
        </p:txBody>
      </p:sp>
      <p:sp>
        <p:nvSpPr>
          <p:cNvPr id="18" name="Text 16"/>
          <p:cNvSpPr/>
          <p:nvPr/>
        </p:nvSpPr>
        <p:spPr>
          <a:xfrm>
            <a:off x="6001583" y="4547163"/>
            <a:ext cx="1934289" cy="2374133"/>
          </a:xfrm>
          <a:prstGeom prst="rect">
            <a:avLst/>
          </a:prstGeom>
          <a:noFill/>
          <a:ln/>
        </p:spPr>
        <p:txBody>
          <a:bodyPr wrap="none" lIns="0" tIns="0" rIns="0" bIns="0" rtlCol="0" anchor="t"/>
          <a:lstStyle/>
          <a:p>
            <a:pPr marL="0" indent="0" algn="l">
              <a:lnSpc>
                <a:spcPts val="1400"/>
              </a:lnSpc>
              <a:buNone/>
            </a:pPr>
            <a:r>
              <a:rPr lang="en-US" sz="1100" dirty="0">
                <a:solidFill>
                  <a:srgbClr val="E5E0DF"/>
                </a:solidFill>
                <a:latin typeface="Saira Medium" pitchFamily="34" charset="0"/>
                <a:ea typeface="Saira Medium" pitchFamily="34" charset="-122"/>
                <a:cs typeface="Saira Medium" pitchFamily="34" charset="-120"/>
              </a:rPr>
              <a:t>Integrates hospital case data</a:t>
            </a:r>
            <a:endParaRPr lang="en-US" sz="1100" dirty="0"/>
          </a:p>
        </p:txBody>
      </p:sp>
      <p:sp>
        <p:nvSpPr>
          <p:cNvPr id="19" name="Text 17"/>
          <p:cNvSpPr/>
          <p:nvPr/>
        </p:nvSpPr>
        <p:spPr>
          <a:xfrm>
            <a:off x="8687872" y="4496280"/>
            <a:ext cx="115848" cy="1899634"/>
          </a:xfrm>
          <a:prstGeom prst="rect">
            <a:avLst/>
          </a:prstGeom>
          <a:noFill/>
          <a:ln/>
        </p:spPr>
        <p:txBody>
          <a:bodyPr wrap="none" lIns="0" tIns="0" rIns="0" bIns="0" rtlCol="0" anchor="t"/>
          <a:lstStyle/>
          <a:p>
            <a:pPr marL="0" indent="0" algn="l">
              <a:lnSpc>
                <a:spcPts val="1100"/>
              </a:lnSpc>
              <a:buNone/>
            </a:pPr>
            <a:r>
              <a:rPr lang="en-US" sz="900" dirty="0">
                <a:solidFill>
                  <a:srgbClr val="E5E0DF"/>
                </a:solidFill>
                <a:latin typeface="Saira Light" pitchFamily="34" charset="0"/>
                <a:ea typeface="Saira Light" pitchFamily="34" charset="-122"/>
                <a:cs typeface="Saira Light" pitchFamily="34" charset="-120"/>
              </a:rPr>
              <a:t>03</a:t>
            </a:r>
            <a:endParaRPr lang="en-US" sz="900" dirty="0"/>
          </a:p>
        </p:txBody>
      </p:sp>
      <p:sp>
        <p:nvSpPr>
          <p:cNvPr id="20" name="Shape 18"/>
          <p:cNvSpPr/>
          <p:nvPr/>
        </p:nvSpPr>
        <p:spPr>
          <a:xfrm>
            <a:off x="8687872" y="5463062"/>
            <a:ext cx="2627114" cy="199791"/>
          </a:xfrm>
          <a:prstGeom prst="rect">
            <a:avLst/>
          </a:prstGeom>
          <a:solidFill>
            <a:srgbClr val="FC8337"/>
          </a:solidFill>
          <a:ln/>
        </p:spPr>
        <p:txBody>
          <a:bodyPr/>
          <a:lstStyle/>
          <a:p>
            <a:endParaRPr lang="en-IN"/>
          </a:p>
        </p:txBody>
      </p:sp>
      <p:sp>
        <p:nvSpPr>
          <p:cNvPr id="21" name="Text 19"/>
          <p:cNvSpPr/>
          <p:nvPr/>
        </p:nvSpPr>
        <p:spPr>
          <a:xfrm>
            <a:off x="8687872" y="3450634"/>
            <a:ext cx="2627114" cy="4748285"/>
          </a:xfrm>
          <a:prstGeom prst="rect">
            <a:avLst/>
          </a:prstGeom>
          <a:noFill/>
          <a:ln/>
        </p:spPr>
        <p:txBody>
          <a:bodyPr wrap="square" lIns="0" tIns="0" rIns="0" bIns="0" rtlCol="0" anchor="t"/>
          <a:lstStyle/>
          <a:p>
            <a:pPr marL="0" indent="0" algn="l">
              <a:lnSpc>
                <a:spcPts val="1400"/>
              </a:lnSpc>
              <a:buNone/>
            </a:pPr>
            <a:r>
              <a:rPr lang="en-US" sz="1100" dirty="0">
                <a:solidFill>
                  <a:srgbClr val="E5E0DF"/>
                </a:solidFill>
                <a:latin typeface="Saira Medium" pitchFamily="34" charset="0"/>
                <a:ea typeface="Saira Medium" pitchFamily="34" charset="-122"/>
                <a:cs typeface="Saira Medium" pitchFamily="34" charset="-120"/>
              </a:rPr>
              <a:t>Learns contamination-to-outbreak lag patterns</a:t>
            </a:r>
            <a:endParaRPr lang="en-US" sz="1100" dirty="0"/>
          </a:p>
        </p:txBody>
      </p:sp>
      <p:sp>
        <p:nvSpPr>
          <p:cNvPr id="22" name="Text 20"/>
          <p:cNvSpPr/>
          <p:nvPr/>
        </p:nvSpPr>
        <p:spPr>
          <a:xfrm>
            <a:off x="3315414" y="5274591"/>
            <a:ext cx="115848" cy="1899634"/>
          </a:xfrm>
          <a:prstGeom prst="rect">
            <a:avLst/>
          </a:prstGeom>
          <a:noFill/>
          <a:ln/>
        </p:spPr>
        <p:txBody>
          <a:bodyPr wrap="none" lIns="0" tIns="0" rIns="0" bIns="0" rtlCol="0" anchor="t"/>
          <a:lstStyle/>
          <a:p>
            <a:pPr marL="0" indent="0" algn="l">
              <a:lnSpc>
                <a:spcPts val="1100"/>
              </a:lnSpc>
              <a:buNone/>
            </a:pPr>
            <a:r>
              <a:rPr lang="en-US" sz="900" dirty="0">
                <a:solidFill>
                  <a:srgbClr val="E5E0DF"/>
                </a:solidFill>
                <a:latin typeface="Saira Light" pitchFamily="34" charset="0"/>
                <a:ea typeface="Saira Light" pitchFamily="34" charset="-122"/>
                <a:cs typeface="Saira Light" pitchFamily="34" charset="-120"/>
              </a:rPr>
              <a:t>04</a:t>
            </a:r>
            <a:endParaRPr lang="en-US" sz="900" dirty="0"/>
          </a:p>
        </p:txBody>
      </p:sp>
      <p:sp>
        <p:nvSpPr>
          <p:cNvPr id="23" name="Shape 21"/>
          <p:cNvSpPr/>
          <p:nvPr/>
        </p:nvSpPr>
        <p:spPr>
          <a:xfrm>
            <a:off x="3315414" y="6241374"/>
            <a:ext cx="3970139" cy="199791"/>
          </a:xfrm>
          <a:prstGeom prst="rect">
            <a:avLst/>
          </a:prstGeom>
          <a:solidFill>
            <a:srgbClr val="FC8337"/>
          </a:solidFill>
          <a:ln/>
        </p:spPr>
        <p:txBody>
          <a:bodyPr/>
          <a:lstStyle/>
          <a:p>
            <a:endParaRPr lang="en-IN"/>
          </a:p>
        </p:txBody>
      </p:sp>
      <p:sp>
        <p:nvSpPr>
          <p:cNvPr id="24" name="Text 22"/>
          <p:cNvSpPr/>
          <p:nvPr/>
        </p:nvSpPr>
        <p:spPr>
          <a:xfrm>
            <a:off x="3315414" y="5325474"/>
            <a:ext cx="2217182" cy="2374133"/>
          </a:xfrm>
          <a:prstGeom prst="rect">
            <a:avLst/>
          </a:prstGeom>
          <a:noFill/>
          <a:ln/>
        </p:spPr>
        <p:txBody>
          <a:bodyPr wrap="none" lIns="0" tIns="0" rIns="0" bIns="0" rtlCol="0" anchor="t"/>
          <a:lstStyle/>
          <a:p>
            <a:pPr marL="0" indent="0" algn="l">
              <a:lnSpc>
                <a:spcPts val="1400"/>
              </a:lnSpc>
              <a:buNone/>
            </a:pPr>
            <a:r>
              <a:rPr lang="en-US" sz="1100" dirty="0">
                <a:solidFill>
                  <a:srgbClr val="E5E0DF"/>
                </a:solidFill>
                <a:latin typeface="Saira Medium" pitchFamily="34" charset="0"/>
                <a:ea typeface="Saira Medium" pitchFamily="34" charset="-122"/>
                <a:cs typeface="Saira Medium" pitchFamily="34" charset="-120"/>
              </a:rPr>
              <a:t>Predicts outbreak risk in advance</a:t>
            </a:r>
            <a:endParaRPr lang="en-US" sz="1100" dirty="0"/>
          </a:p>
        </p:txBody>
      </p:sp>
      <p:sp>
        <p:nvSpPr>
          <p:cNvPr id="25" name="Text 23"/>
          <p:cNvSpPr/>
          <p:nvPr/>
        </p:nvSpPr>
        <p:spPr>
          <a:xfrm>
            <a:off x="7344727" y="5274591"/>
            <a:ext cx="115848" cy="1899634"/>
          </a:xfrm>
          <a:prstGeom prst="rect">
            <a:avLst/>
          </a:prstGeom>
          <a:noFill/>
          <a:ln/>
        </p:spPr>
        <p:txBody>
          <a:bodyPr wrap="none" lIns="0" tIns="0" rIns="0" bIns="0" rtlCol="0" anchor="t"/>
          <a:lstStyle/>
          <a:p>
            <a:pPr marL="0" indent="0" algn="l">
              <a:lnSpc>
                <a:spcPts val="1100"/>
              </a:lnSpc>
              <a:buNone/>
            </a:pPr>
            <a:r>
              <a:rPr lang="en-US" sz="900" dirty="0">
                <a:solidFill>
                  <a:srgbClr val="E5E0DF"/>
                </a:solidFill>
                <a:latin typeface="Saira Light" pitchFamily="34" charset="0"/>
                <a:ea typeface="Saira Light" pitchFamily="34" charset="-122"/>
                <a:cs typeface="Saira Light" pitchFamily="34" charset="-120"/>
              </a:rPr>
              <a:t>05</a:t>
            </a:r>
            <a:endParaRPr lang="en-US" sz="900" dirty="0"/>
          </a:p>
        </p:txBody>
      </p:sp>
      <p:sp>
        <p:nvSpPr>
          <p:cNvPr id="26" name="Shape 24"/>
          <p:cNvSpPr/>
          <p:nvPr/>
        </p:nvSpPr>
        <p:spPr>
          <a:xfrm>
            <a:off x="7344727" y="6241374"/>
            <a:ext cx="3970258" cy="199791"/>
          </a:xfrm>
          <a:prstGeom prst="rect">
            <a:avLst/>
          </a:prstGeom>
          <a:solidFill>
            <a:srgbClr val="FC8337"/>
          </a:solidFill>
          <a:ln/>
        </p:spPr>
        <p:txBody>
          <a:bodyPr/>
          <a:lstStyle/>
          <a:p>
            <a:endParaRPr lang="en-IN"/>
          </a:p>
        </p:txBody>
      </p:sp>
      <p:sp>
        <p:nvSpPr>
          <p:cNvPr id="27" name="Text 25"/>
          <p:cNvSpPr/>
          <p:nvPr/>
        </p:nvSpPr>
        <p:spPr>
          <a:xfrm>
            <a:off x="7344727" y="5325474"/>
            <a:ext cx="3052286" cy="2374133"/>
          </a:xfrm>
          <a:prstGeom prst="rect">
            <a:avLst/>
          </a:prstGeom>
          <a:noFill/>
          <a:ln/>
        </p:spPr>
        <p:txBody>
          <a:bodyPr wrap="none" lIns="0" tIns="0" rIns="0" bIns="0" rtlCol="0" anchor="t"/>
          <a:lstStyle/>
          <a:p>
            <a:pPr marL="0" indent="0" algn="l">
              <a:lnSpc>
                <a:spcPts val="1400"/>
              </a:lnSpc>
              <a:buNone/>
            </a:pPr>
            <a:r>
              <a:rPr lang="en-US" sz="1100" dirty="0">
                <a:solidFill>
                  <a:srgbClr val="E5E0DF"/>
                </a:solidFill>
                <a:latin typeface="Saira Medium" pitchFamily="34" charset="0"/>
                <a:ea typeface="Saira Medium" pitchFamily="34" charset="-122"/>
                <a:cs typeface="Saira Medium" pitchFamily="34" charset="-120"/>
              </a:rPr>
              <a:t>Provides actionable alerts through dashboard</a:t>
            </a:r>
            <a:endParaRPr lang="en-US" sz="1100" dirty="0"/>
          </a:p>
        </p:txBody>
      </p:sp>
      <p:sp>
        <p:nvSpPr>
          <p:cNvPr id="28" name="Text 26"/>
          <p:cNvSpPr/>
          <p:nvPr/>
        </p:nvSpPr>
        <p:spPr>
          <a:xfrm>
            <a:off x="3315414" y="5908026"/>
            <a:ext cx="7999571" cy="1837202"/>
          </a:xfrm>
          <a:prstGeom prst="rect">
            <a:avLst/>
          </a:prstGeom>
          <a:noFill/>
          <a:ln/>
        </p:spPr>
        <p:txBody>
          <a:bodyPr wrap="none" lIns="0" tIns="0" rIns="0" bIns="0" rtlCol="0" anchor="t"/>
          <a:lstStyle/>
          <a:p>
            <a:pPr marL="0" indent="0" algn="l">
              <a:lnSpc>
                <a:spcPts val="1100"/>
              </a:lnSpc>
              <a:buNone/>
            </a:pPr>
            <a:r>
              <a:rPr lang="en-US" sz="900" dirty="0">
                <a:solidFill>
                  <a:srgbClr val="E5E0DF"/>
                </a:solidFill>
                <a:latin typeface="Roboto" pitchFamily="34" charset="0"/>
                <a:ea typeface="Roboto" pitchFamily="34" charset="-122"/>
                <a:cs typeface="Roboto" pitchFamily="34" charset="-120"/>
              </a:rPr>
              <a:t>Goal: Shift from reactive response to predictive prevention.</a:t>
            </a:r>
            <a:endParaRPr lang="en-US" sz="900" dirty="0"/>
          </a:p>
        </p:txBody>
      </p:sp>
      <p:sp>
        <p:nvSpPr>
          <p:cNvPr id="4" name="object 2">
            <a:extLst>
              <a:ext uri="{FF2B5EF4-FFF2-40B4-BE49-F238E27FC236}">
                <a16:creationId xmlns:a16="http://schemas.microsoft.com/office/drawing/2014/main" id="{30B9F4B1-6150-EB42-14C7-BA843758C1C6}"/>
              </a:ext>
            </a:extLst>
          </p:cNvPr>
          <p:cNvSpPr txBox="1"/>
          <p:nvPr/>
        </p:nvSpPr>
        <p:spPr>
          <a:xfrm>
            <a:off x="1115547" y="295439"/>
            <a:ext cx="3308458" cy="356507"/>
          </a:xfrm>
          <a:prstGeom prst="rect">
            <a:avLst/>
          </a:prstGeom>
        </p:spPr>
        <p:txBody>
          <a:bodyPr vert="horz" wrap="square" lIns="0" tIns="11683" rIns="0" bIns="0" rtlCol="0">
            <a:spAutoFit/>
          </a:bodyPr>
          <a:lstStyle/>
          <a:p>
            <a:pPr marL="10160">
              <a:spcBef>
                <a:spcPts val="91"/>
              </a:spcBef>
            </a:pPr>
            <a:r>
              <a:rPr sz="2240" spc="352" dirty="0">
                <a:solidFill>
                  <a:srgbClr val="FFFFFF"/>
                </a:solidFill>
                <a:latin typeface="Saira Medium" panose="020B0604020202020204" charset="0"/>
                <a:cs typeface="Trebuchet MS"/>
              </a:rPr>
              <a:t>HACK</a:t>
            </a:r>
            <a:r>
              <a:rPr sz="2240" spc="-76" dirty="0">
                <a:solidFill>
                  <a:srgbClr val="FFFFFF"/>
                </a:solidFill>
                <a:latin typeface="Saira Medium" panose="020B0604020202020204" charset="0"/>
                <a:cs typeface="Trebuchet MS"/>
              </a:rPr>
              <a:t> </a:t>
            </a:r>
            <a:r>
              <a:rPr sz="2240" spc="284" dirty="0">
                <a:solidFill>
                  <a:srgbClr val="FFFFFF"/>
                </a:solidFill>
                <a:latin typeface="Saira Medium" panose="020B0604020202020204" charset="0"/>
                <a:cs typeface="Trebuchet MS"/>
              </a:rPr>
              <a:t>KRMU</a:t>
            </a:r>
            <a:r>
              <a:rPr sz="2240" spc="-72" dirty="0">
                <a:solidFill>
                  <a:srgbClr val="FFFFFF"/>
                </a:solidFill>
                <a:latin typeface="Saira Medium" panose="020B0604020202020204" charset="0"/>
                <a:cs typeface="Trebuchet MS"/>
              </a:rPr>
              <a:t> </a:t>
            </a:r>
            <a:r>
              <a:rPr sz="2240" spc="64" dirty="0">
                <a:solidFill>
                  <a:srgbClr val="FFFFFF"/>
                </a:solidFill>
                <a:latin typeface="Saira Medium" panose="020B0604020202020204" charset="0"/>
                <a:cs typeface="Trebuchet MS"/>
              </a:rPr>
              <a:t>5.0</a:t>
            </a:r>
            <a:endParaRPr sz="2240" dirty="0">
              <a:latin typeface="Saira Medium" panose="020B0604020202020204" charset="0"/>
              <a:cs typeface="Trebuchet MS"/>
            </a:endParaRPr>
          </a:p>
        </p:txBody>
      </p:sp>
      <p:pic>
        <p:nvPicPr>
          <p:cNvPr id="6" name="Picture 5">
            <a:extLst>
              <a:ext uri="{FF2B5EF4-FFF2-40B4-BE49-F238E27FC236}">
                <a16:creationId xmlns:a16="http://schemas.microsoft.com/office/drawing/2014/main" id="{C88B09EF-AF14-3A2F-28E7-E73A634CBD22}"/>
              </a:ext>
            </a:extLst>
          </p:cNvPr>
          <p:cNvPicPr>
            <a:picLocks noChangeAspect="1"/>
          </p:cNvPicPr>
          <p:nvPr/>
        </p:nvPicPr>
        <p:blipFill>
          <a:blip r:embed="rId3"/>
          <a:stretch>
            <a:fillRect/>
          </a:stretch>
        </p:blipFill>
        <p:spPr>
          <a:xfrm>
            <a:off x="321276" y="135924"/>
            <a:ext cx="601090" cy="74062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2026508" y="1073467"/>
            <a:ext cx="4550267" cy="531137"/>
          </a:xfrm>
          <a:prstGeom prst="rect">
            <a:avLst/>
          </a:prstGeom>
          <a:noFill/>
          <a:ln/>
        </p:spPr>
        <p:txBody>
          <a:bodyPr wrap="none" lIns="0" tIns="0" rIns="0" bIns="0" rtlCol="0" anchor="t"/>
          <a:lstStyle/>
          <a:p>
            <a:pPr marL="0" indent="0" algn="l">
              <a:lnSpc>
                <a:spcPts val="3800"/>
              </a:lnSpc>
              <a:buNone/>
            </a:pPr>
            <a:r>
              <a:rPr lang="en-US" sz="3050" dirty="0">
                <a:solidFill>
                  <a:srgbClr val="FFFFFF"/>
                </a:solidFill>
                <a:latin typeface="Saira Medium" pitchFamily="34" charset="0"/>
                <a:ea typeface="Saira Medium" pitchFamily="34" charset="-122"/>
                <a:cs typeface="Saira Medium" pitchFamily="34" charset="-120"/>
              </a:rPr>
              <a:t>Real Incidents &amp; Evidence</a:t>
            </a:r>
            <a:endParaRPr lang="en-US" sz="3050" dirty="0"/>
          </a:p>
        </p:txBody>
      </p:sp>
      <p:sp>
        <p:nvSpPr>
          <p:cNvPr id="3" name="Text 1"/>
          <p:cNvSpPr/>
          <p:nvPr/>
        </p:nvSpPr>
        <p:spPr>
          <a:xfrm>
            <a:off x="1925122" y="1604605"/>
            <a:ext cx="3070503" cy="292894"/>
          </a:xfrm>
          <a:prstGeom prst="rect">
            <a:avLst/>
          </a:prstGeom>
          <a:noFill/>
          <a:ln/>
        </p:spPr>
        <p:txBody>
          <a:bodyPr wrap="none" lIns="0" tIns="0" rIns="0" bIns="0" rtlCol="0" anchor="t"/>
          <a:lstStyle/>
          <a:p>
            <a:pPr marL="0" indent="0" algn="l">
              <a:lnSpc>
                <a:spcPts val="2300"/>
              </a:lnSpc>
              <a:buNone/>
            </a:pPr>
            <a:r>
              <a:rPr lang="en-US" sz="1800" dirty="0">
                <a:solidFill>
                  <a:srgbClr val="FFFFFF"/>
                </a:solidFill>
                <a:latin typeface="Saira Medium" pitchFamily="34" charset="0"/>
                <a:ea typeface="Saira Medium" pitchFamily="34" charset="-122"/>
                <a:cs typeface="Saira Medium" pitchFamily="34" charset="-120"/>
              </a:rPr>
              <a:t>Groundwater Contamination</a:t>
            </a:r>
            <a:endParaRPr lang="en-US" sz="1800" dirty="0"/>
          </a:p>
        </p:txBody>
      </p:sp>
      <p:sp>
        <p:nvSpPr>
          <p:cNvPr id="4" name="Text 2"/>
          <p:cNvSpPr/>
          <p:nvPr/>
        </p:nvSpPr>
        <p:spPr>
          <a:xfrm>
            <a:off x="1925122" y="2058829"/>
            <a:ext cx="10780038" cy="210979"/>
          </a:xfrm>
          <a:prstGeom prst="rect">
            <a:avLst/>
          </a:prstGeom>
          <a:noFill/>
          <a:ln/>
        </p:spPr>
        <p:txBody>
          <a:bodyPr wrap="none" lIns="0" tIns="0" rIns="0" bIns="0" rtlCol="0" anchor="t"/>
          <a:lstStyle/>
          <a:p>
            <a:pPr marL="0" indent="0" algn="l">
              <a:lnSpc>
                <a:spcPts val="1650"/>
              </a:lnSpc>
              <a:buNone/>
            </a:pPr>
            <a:r>
              <a:rPr lang="en-US" sz="1200" dirty="0">
                <a:solidFill>
                  <a:srgbClr val="E5E0DF"/>
                </a:solidFill>
                <a:latin typeface="Roboto" pitchFamily="34" charset="0"/>
                <a:ea typeface="Roboto" pitchFamily="34" charset="-122"/>
                <a:cs typeface="Roboto" pitchFamily="34" charset="-120"/>
              </a:rPr>
              <a:t>A 2025 report from Central Ground Water Board found:</a:t>
            </a:r>
            <a:endParaRPr lang="en-US" sz="1200" dirty="0"/>
          </a:p>
        </p:txBody>
      </p:sp>
      <p:sp>
        <p:nvSpPr>
          <p:cNvPr id="5" name="Text 3"/>
          <p:cNvSpPr/>
          <p:nvPr/>
        </p:nvSpPr>
        <p:spPr>
          <a:xfrm>
            <a:off x="1925122" y="2390775"/>
            <a:ext cx="10780038" cy="1205389"/>
          </a:xfrm>
          <a:prstGeom prst="rect">
            <a:avLst/>
          </a:prstGeom>
          <a:noFill/>
          <a:ln/>
        </p:spPr>
        <p:txBody>
          <a:bodyPr wrap="square" lIns="0" tIns="0" rIns="0" bIns="0" rtlCol="0" anchor="t"/>
          <a:lstStyle/>
          <a:p>
            <a:pPr marL="342900" indent="-342900" algn="l">
              <a:lnSpc>
                <a:spcPts val="1650"/>
              </a:lnSpc>
              <a:buSzPct val="100000"/>
              <a:buChar char="•"/>
            </a:pPr>
            <a:r>
              <a:rPr lang="en-US" sz="1200" dirty="0">
                <a:solidFill>
                  <a:srgbClr val="E5E0DF"/>
                </a:solidFill>
                <a:latin typeface="Roboto" pitchFamily="34" charset="0"/>
                <a:ea typeface="Roboto" pitchFamily="34" charset="-122"/>
                <a:cs typeface="Roboto" pitchFamily="34" charset="-120"/>
              </a:rPr>
              <a:t>28.3% of groundwater samples exceeded safe drinking limits</a:t>
            </a:r>
            <a:endParaRPr lang="en-US" sz="1200" dirty="0"/>
          </a:p>
          <a:p>
            <a:pPr marL="342900" indent="-342900" algn="l">
              <a:lnSpc>
                <a:spcPts val="1650"/>
              </a:lnSpc>
              <a:buSzPct val="100000"/>
              <a:buChar char="•"/>
            </a:pPr>
            <a:r>
              <a:rPr lang="en-US" sz="1200" dirty="0">
                <a:solidFill>
                  <a:srgbClr val="E5E0DF"/>
                </a:solidFill>
                <a:latin typeface="Roboto" pitchFamily="34" charset="0"/>
                <a:ea typeface="Roboto" pitchFamily="34" charset="-122"/>
                <a:cs typeface="Roboto" pitchFamily="34" charset="-120"/>
              </a:rPr>
              <a:t>Severe contamination in states like:</a:t>
            </a:r>
            <a:endParaRPr lang="en-US" sz="1200" dirty="0"/>
          </a:p>
          <a:p>
            <a:pPr marL="685800" lvl="1" indent="-342900" algn="l">
              <a:lnSpc>
                <a:spcPts val="1650"/>
              </a:lnSpc>
              <a:buSzPct val="100000"/>
              <a:buChar char="◦"/>
            </a:pPr>
            <a:r>
              <a:rPr lang="en-US" sz="1200" dirty="0">
                <a:solidFill>
                  <a:srgbClr val="E5E0DF"/>
                </a:solidFill>
                <a:latin typeface="Roboto" pitchFamily="34" charset="0"/>
                <a:ea typeface="Roboto" pitchFamily="34" charset="-122"/>
                <a:cs typeface="Roboto" pitchFamily="34" charset="-120"/>
              </a:rPr>
              <a:t>Rajasthan</a:t>
            </a:r>
            <a:endParaRPr lang="en-US" sz="1200" dirty="0"/>
          </a:p>
          <a:p>
            <a:pPr marL="685800" lvl="1" indent="-342900" algn="l">
              <a:lnSpc>
                <a:spcPts val="1650"/>
              </a:lnSpc>
              <a:buSzPct val="100000"/>
              <a:buChar char="◦"/>
            </a:pPr>
            <a:r>
              <a:rPr lang="en-US" sz="1200" dirty="0">
                <a:solidFill>
                  <a:srgbClr val="E5E0DF"/>
                </a:solidFill>
                <a:latin typeface="Roboto" pitchFamily="34" charset="0"/>
                <a:ea typeface="Roboto" pitchFamily="34" charset="-122"/>
                <a:cs typeface="Roboto" pitchFamily="34" charset="-120"/>
              </a:rPr>
              <a:t>Haryana</a:t>
            </a:r>
            <a:endParaRPr lang="en-US" sz="1200" dirty="0"/>
          </a:p>
          <a:p>
            <a:pPr marL="685800" lvl="1" indent="-342900" algn="l">
              <a:lnSpc>
                <a:spcPts val="1650"/>
              </a:lnSpc>
              <a:buSzPct val="100000"/>
              <a:buChar char="◦"/>
            </a:pPr>
            <a:r>
              <a:rPr lang="en-US" sz="1200" dirty="0">
                <a:solidFill>
                  <a:srgbClr val="E5E0DF"/>
                </a:solidFill>
                <a:latin typeface="Roboto" pitchFamily="34" charset="0"/>
                <a:ea typeface="Roboto" pitchFamily="34" charset="-122"/>
                <a:cs typeface="Roboto" pitchFamily="34" charset="-120"/>
              </a:rPr>
              <a:t>Andhra Pradesh</a:t>
            </a:r>
            <a:endParaRPr lang="en-US" sz="1200" dirty="0"/>
          </a:p>
        </p:txBody>
      </p:sp>
      <p:sp>
        <p:nvSpPr>
          <p:cNvPr id="6" name="Text 4"/>
          <p:cNvSpPr/>
          <p:nvPr/>
        </p:nvSpPr>
        <p:spPr>
          <a:xfrm>
            <a:off x="1925122" y="3757493"/>
            <a:ext cx="2619494" cy="292894"/>
          </a:xfrm>
          <a:prstGeom prst="rect">
            <a:avLst/>
          </a:prstGeom>
          <a:noFill/>
          <a:ln/>
        </p:spPr>
        <p:txBody>
          <a:bodyPr wrap="none" lIns="0" tIns="0" rIns="0" bIns="0" rtlCol="0" anchor="t"/>
          <a:lstStyle/>
          <a:p>
            <a:pPr marL="0" indent="0" algn="l">
              <a:lnSpc>
                <a:spcPts val="2300"/>
              </a:lnSpc>
              <a:buNone/>
            </a:pPr>
            <a:r>
              <a:rPr lang="en-US" sz="1800" dirty="0">
                <a:solidFill>
                  <a:srgbClr val="FFFFFF"/>
                </a:solidFill>
                <a:latin typeface="Saira Medium" pitchFamily="34" charset="0"/>
                <a:ea typeface="Saira Medium" pitchFamily="34" charset="-122"/>
                <a:cs typeface="Saira Medium" pitchFamily="34" charset="-120"/>
              </a:rPr>
              <a:t>Chemical Contamination</a:t>
            </a:r>
            <a:endParaRPr lang="en-US" sz="1800" dirty="0"/>
          </a:p>
        </p:txBody>
      </p:sp>
      <p:sp>
        <p:nvSpPr>
          <p:cNvPr id="7" name="Text 5"/>
          <p:cNvSpPr/>
          <p:nvPr/>
        </p:nvSpPr>
        <p:spPr>
          <a:xfrm>
            <a:off x="1925122" y="4211717"/>
            <a:ext cx="10780038" cy="708184"/>
          </a:xfrm>
          <a:prstGeom prst="rect">
            <a:avLst/>
          </a:prstGeom>
          <a:noFill/>
          <a:ln/>
        </p:spPr>
        <p:txBody>
          <a:bodyPr wrap="square" lIns="0" tIns="0" rIns="0" bIns="0" rtlCol="0" anchor="t"/>
          <a:lstStyle/>
          <a:p>
            <a:pPr marL="342900" indent="-342900" algn="l">
              <a:lnSpc>
                <a:spcPts val="1650"/>
              </a:lnSpc>
              <a:buSzPct val="100000"/>
              <a:buChar char="•"/>
            </a:pPr>
            <a:r>
              <a:rPr lang="en-US" sz="1200" dirty="0">
                <a:solidFill>
                  <a:srgbClr val="E5E0DF"/>
                </a:solidFill>
                <a:latin typeface="Roboto" pitchFamily="34" charset="0"/>
                <a:ea typeface="Roboto" pitchFamily="34" charset="-122"/>
                <a:cs typeface="Roboto" pitchFamily="34" charset="-120"/>
              </a:rPr>
              <a:t>13–15% of groundwater samples in Delhi exceeded safe uranium limits</a:t>
            </a:r>
            <a:endParaRPr lang="en-US" sz="1200" dirty="0"/>
          </a:p>
          <a:p>
            <a:pPr marL="342900" indent="-342900" algn="l">
              <a:lnSpc>
                <a:spcPts val="1650"/>
              </a:lnSpc>
              <a:buSzPct val="100000"/>
              <a:buChar char="•"/>
            </a:pPr>
            <a:r>
              <a:rPr lang="en-US" sz="1200" dirty="0">
                <a:solidFill>
                  <a:srgbClr val="E5E0DF"/>
                </a:solidFill>
                <a:latin typeface="Roboto" pitchFamily="34" charset="0"/>
                <a:ea typeface="Roboto" pitchFamily="34" charset="-122"/>
                <a:cs typeface="Roboto" pitchFamily="34" charset="-120"/>
              </a:rPr>
              <a:t>High nitrate and heavy metal presence in several regions</a:t>
            </a:r>
            <a:endParaRPr lang="en-US" sz="1200" dirty="0"/>
          </a:p>
          <a:p>
            <a:pPr marL="342900" indent="-342900" algn="l">
              <a:lnSpc>
                <a:spcPts val="1650"/>
              </a:lnSpc>
              <a:buSzPct val="100000"/>
              <a:buChar char="•"/>
            </a:pPr>
            <a:r>
              <a:rPr lang="en-US" sz="1200" dirty="0">
                <a:solidFill>
                  <a:srgbClr val="E5E0DF"/>
                </a:solidFill>
                <a:latin typeface="Roboto" pitchFamily="34" charset="0"/>
                <a:ea typeface="Roboto" pitchFamily="34" charset="-122"/>
                <a:cs typeface="Roboto" pitchFamily="34" charset="-120"/>
              </a:rPr>
              <a:t>Chemical and microbial contamination both increase long-term health risks.</a:t>
            </a:r>
            <a:endParaRPr lang="en-US" sz="1200" dirty="0"/>
          </a:p>
        </p:txBody>
      </p:sp>
      <p:sp>
        <p:nvSpPr>
          <p:cNvPr id="8" name="Text 6"/>
          <p:cNvSpPr/>
          <p:nvPr/>
        </p:nvSpPr>
        <p:spPr>
          <a:xfrm>
            <a:off x="1925122" y="5081230"/>
            <a:ext cx="2710101" cy="292894"/>
          </a:xfrm>
          <a:prstGeom prst="rect">
            <a:avLst/>
          </a:prstGeom>
          <a:noFill/>
          <a:ln/>
        </p:spPr>
        <p:txBody>
          <a:bodyPr wrap="none" lIns="0" tIns="0" rIns="0" bIns="0" rtlCol="0" anchor="t"/>
          <a:lstStyle/>
          <a:p>
            <a:pPr marL="0" indent="0" algn="l">
              <a:lnSpc>
                <a:spcPts val="2300"/>
              </a:lnSpc>
              <a:buNone/>
            </a:pPr>
            <a:r>
              <a:rPr lang="en-US" sz="1800" dirty="0">
                <a:solidFill>
                  <a:srgbClr val="FFFFFF"/>
                </a:solidFill>
                <a:latin typeface="Saira Medium" pitchFamily="34" charset="0"/>
                <a:ea typeface="Saira Medium" pitchFamily="34" charset="-122"/>
                <a:cs typeface="Saira Medium" pitchFamily="34" charset="-120"/>
              </a:rPr>
              <a:t>Recent Disease Incidents</a:t>
            </a:r>
            <a:endParaRPr lang="en-US" sz="1800" dirty="0"/>
          </a:p>
        </p:txBody>
      </p:sp>
      <p:sp>
        <p:nvSpPr>
          <p:cNvPr id="9" name="Text 7"/>
          <p:cNvSpPr/>
          <p:nvPr/>
        </p:nvSpPr>
        <p:spPr>
          <a:xfrm>
            <a:off x="1925122" y="5535454"/>
            <a:ext cx="10780038" cy="956786"/>
          </a:xfrm>
          <a:prstGeom prst="rect">
            <a:avLst/>
          </a:prstGeom>
          <a:noFill/>
          <a:ln/>
        </p:spPr>
        <p:txBody>
          <a:bodyPr wrap="square" lIns="0" tIns="0" rIns="0" bIns="0" rtlCol="0" anchor="t"/>
          <a:lstStyle/>
          <a:p>
            <a:pPr marL="342900" indent="-342900" algn="l">
              <a:lnSpc>
                <a:spcPts val="1650"/>
              </a:lnSpc>
              <a:buSzPct val="100000"/>
              <a:buChar char="•"/>
            </a:pPr>
            <a:r>
              <a:rPr lang="en-US" sz="1200" dirty="0">
                <a:solidFill>
                  <a:srgbClr val="E5E0DF"/>
                </a:solidFill>
                <a:latin typeface="Roboto" pitchFamily="34" charset="0"/>
                <a:ea typeface="Roboto" pitchFamily="34" charset="-122"/>
                <a:cs typeface="Roboto" pitchFamily="34" charset="-120"/>
              </a:rPr>
              <a:t>In Indore, contaminated water reportedly led to multiple deaths and hospitalizations.</a:t>
            </a:r>
            <a:endParaRPr lang="en-US" sz="1200" dirty="0"/>
          </a:p>
          <a:p>
            <a:pPr marL="342900" indent="-342900" algn="l">
              <a:lnSpc>
                <a:spcPts val="1650"/>
              </a:lnSpc>
              <a:buSzPct val="100000"/>
              <a:buChar char="•"/>
            </a:pPr>
            <a:r>
              <a:rPr lang="en-US" sz="1200" dirty="0">
                <a:solidFill>
                  <a:srgbClr val="E5E0DF"/>
                </a:solidFill>
                <a:latin typeface="Roboto" pitchFamily="34" charset="0"/>
                <a:ea typeface="Roboto" pitchFamily="34" charset="-122"/>
                <a:cs typeface="Roboto" pitchFamily="34" charset="-120"/>
              </a:rPr>
              <a:t>In Nagpur, sewage mixing caused jaundice and fever in over 50 residents.</a:t>
            </a:r>
            <a:endParaRPr lang="en-US" sz="1200" dirty="0"/>
          </a:p>
          <a:p>
            <a:pPr marL="342900" indent="-342900" algn="l">
              <a:lnSpc>
                <a:spcPts val="1650"/>
              </a:lnSpc>
              <a:buSzPct val="100000"/>
              <a:buChar char="•"/>
            </a:pPr>
            <a:r>
              <a:rPr lang="en-US" sz="1200" dirty="0">
                <a:solidFill>
                  <a:srgbClr val="E5E0DF"/>
                </a:solidFill>
                <a:latin typeface="Roboto" pitchFamily="34" charset="0"/>
                <a:ea typeface="Roboto" pitchFamily="34" charset="-122"/>
                <a:cs typeface="Roboto" pitchFamily="34" charset="-120"/>
              </a:rPr>
              <a:t>In Delhi (Janakpuri), E. coli contamination was detected in tap water.</a:t>
            </a:r>
            <a:endParaRPr lang="en-US" sz="1200" dirty="0"/>
          </a:p>
          <a:p>
            <a:pPr marL="342900" indent="-342900" algn="l">
              <a:lnSpc>
                <a:spcPts val="1650"/>
              </a:lnSpc>
              <a:buSzPct val="100000"/>
              <a:buChar char="•"/>
            </a:pPr>
            <a:r>
              <a:rPr lang="en-US" sz="1200" dirty="0">
                <a:solidFill>
                  <a:srgbClr val="E5E0DF"/>
                </a:solidFill>
                <a:latin typeface="Roboto" pitchFamily="34" charset="0"/>
                <a:ea typeface="Roboto" pitchFamily="34" charset="-122"/>
                <a:cs typeface="Roboto" pitchFamily="34" charset="-120"/>
              </a:rPr>
              <a:t>In Pune (Moshi), residents reported foul-smelling contaminated water.</a:t>
            </a:r>
            <a:endParaRPr lang="en-US" sz="1200" dirty="0"/>
          </a:p>
        </p:txBody>
      </p:sp>
      <p:sp>
        <p:nvSpPr>
          <p:cNvPr id="10" name="Text 8"/>
          <p:cNvSpPr/>
          <p:nvPr/>
        </p:nvSpPr>
        <p:spPr>
          <a:xfrm>
            <a:off x="1925122" y="6613207"/>
            <a:ext cx="10780038" cy="210979"/>
          </a:xfrm>
          <a:prstGeom prst="rect">
            <a:avLst/>
          </a:prstGeom>
          <a:noFill/>
          <a:ln/>
        </p:spPr>
        <p:txBody>
          <a:bodyPr wrap="none" lIns="0" tIns="0" rIns="0" bIns="0" rtlCol="0" anchor="t"/>
          <a:lstStyle/>
          <a:p>
            <a:pPr marL="0" indent="0" algn="l">
              <a:lnSpc>
                <a:spcPts val="1650"/>
              </a:lnSpc>
              <a:buNone/>
            </a:pPr>
            <a:r>
              <a:rPr lang="en-US" sz="1200" dirty="0">
                <a:solidFill>
                  <a:srgbClr val="E5E0DF"/>
                </a:solidFill>
                <a:latin typeface="Roboto" pitchFamily="34" charset="0"/>
                <a:ea typeface="Roboto" pitchFamily="34" charset="-122"/>
                <a:cs typeface="Roboto" pitchFamily="34" charset="-120"/>
              </a:rPr>
              <a:t>These events show contamination precedes outbreaks.</a:t>
            </a:r>
            <a:endParaRPr lang="en-US" sz="1200" dirty="0"/>
          </a:p>
        </p:txBody>
      </p:sp>
      <p:sp>
        <p:nvSpPr>
          <p:cNvPr id="11" name="Text 9"/>
          <p:cNvSpPr/>
          <p:nvPr/>
        </p:nvSpPr>
        <p:spPr>
          <a:xfrm>
            <a:off x="1925122" y="6945154"/>
            <a:ext cx="10780038" cy="210979"/>
          </a:xfrm>
          <a:prstGeom prst="rect">
            <a:avLst/>
          </a:prstGeom>
          <a:noFill/>
          <a:ln/>
        </p:spPr>
        <p:txBody>
          <a:bodyPr wrap="none" lIns="0" tIns="0" rIns="0" bIns="0" rtlCol="0" anchor="t"/>
          <a:lstStyle/>
          <a:p>
            <a:pPr marL="0" indent="0" algn="r">
              <a:lnSpc>
                <a:spcPts val="1650"/>
              </a:lnSpc>
              <a:buNone/>
            </a:pPr>
            <a:r>
              <a:rPr lang="en-US" sz="1200" dirty="0">
                <a:solidFill>
                  <a:srgbClr val="E5E0DF"/>
                </a:solidFill>
                <a:latin typeface="Roboto" pitchFamily="34" charset="0"/>
                <a:ea typeface="Roboto" pitchFamily="34" charset="-122"/>
                <a:cs typeface="Roboto" pitchFamily="34" charset="-120"/>
              </a:rPr>
              <a:t>03</a:t>
            </a:r>
            <a:endParaRPr lang="en-US" sz="1200" dirty="0"/>
          </a:p>
        </p:txBody>
      </p:sp>
      <p:sp>
        <p:nvSpPr>
          <p:cNvPr id="12" name="TextBox 11">
            <a:extLst>
              <a:ext uri="{FF2B5EF4-FFF2-40B4-BE49-F238E27FC236}">
                <a16:creationId xmlns:a16="http://schemas.microsoft.com/office/drawing/2014/main" id="{D892A250-1C08-208B-98DB-4717CDAA4CEC}"/>
              </a:ext>
            </a:extLst>
          </p:cNvPr>
          <p:cNvSpPr txBox="1"/>
          <p:nvPr/>
        </p:nvSpPr>
        <p:spPr>
          <a:xfrm>
            <a:off x="1037967" y="328006"/>
            <a:ext cx="2804984" cy="369332"/>
          </a:xfrm>
          <a:prstGeom prst="rect">
            <a:avLst/>
          </a:prstGeom>
          <a:noFill/>
        </p:spPr>
        <p:txBody>
          <a:bodyPr wrap="square" rtlCol="0">
            <a:spAutoFit/>
          </a:bodyPr>
          <a:lstStyle/>
          <a:p>
            <a:pPr marL="10160">
              <a:spcBef>
                <a:spcPts val="91"/>
              </a:spcBef>
            </a:pPr>
            <a:r>
              <a:rPr lang="en-IN" spc="352" dirty="0">
                <a:solidFill>
                  <a:srgbClr val="FFFFFF"/>
                </a:solidFill>
                <a:latin typeface="Saira Medium" panose="020B0604020202020204" charset="0"/>
                <a:cs typeface="Trebuchet MS"/>
              </a:rPr>
              <a:t>HACK</a:t>
            </a:r>
            <a:r>
              <a:rPr lang="en-IN" spc="-76" dirty="0">
                <a:solidFill>
                  <a:srgbClr val="FFFFFF"/>
                </a:solidFill>
                <a:latin typeface="Saira Medium" panose="020B0604020202020204" charset="0"/>
                <a:cs typeface="Trebuchet MS"/>
              </a:rPr>
              <a:t> </a:t>
            </a:r>
            <a:r>
              <a:rPr lang="en-IN" spc="284" dirty="0">
                <a:solidFill>
                  <a:srgbClr val="FFFFFF"/>
                </a:solidFill>
                <a:latin typeface="Saira Medium" panose="020B0604020202020204" charset="0"/>
                <a:cs typeface="Trebuchet MS"/>
              </a:rPr>
              <a:t>KRMU</a:t>
            </a:r>
            <a:r>
              <a:rPr lang="en-IN" spc="-72" dirty="0">
                <a:solidFill>
                  <a:srgbClr val="FFFFFF"/>
                </a:solidFill>
                <a:latin typeface="Saira Medium" panose="020B0604020202020204" charset="0"/>
                <a:cs typeface="Trebuchet MS"/>
              </a:rPr>
              <a:t> </a:t>
            </a:r>
            <a:r>
              <a:rPr lang="en-IN" spc="64" dirty="0">
                <a:solidFill>
                  <a:srgbClr val="FFFFFF"/>
                </a:solidFill>
                <a:latin typeface="Saira Medium" panose="020B0604020202020204" charset="0"/>
                <a:cs typeface="Trebuchet MS"/>
              </a:rPr>
              <a:t>5.0</a:t>
            </a:r>
            <a:endParaRPr lang="en-IN" dirty="0">
              <a:latin typeface="Saira Medium" panose="020B0604020202020204" charset="0"/>
              <a:cs typeface="Trebuchet MS"/>
            </a:endParaRPr>
          </a:p>
        </p:txBody>
      </p:sp>
      <p:pic>
        <p:nvPicPr>
          <p:cNvPr id="14" name="Picture 13">
            <a:extLst>
              <a:ext uri="{FF2B5EF4-FFF2-40B4-BE49-F238E27FC236}">
                <a16:creationId xmlns:a16="http://schemas.microsoft.com/office/drawing/2014/main" id="{9719A860-6ED0-9A02-AB37-B6E4D0C669F6}"/>
              </a:ext>
            </a:extLst>
          </p:cNvPr>
          <p:cNvPicPr>
            <a:picLocks noChangeAspect="1"/>
          </p:cNvPicPr>
          <p:nvPr/>
        </p:nvPicPr>
        <p:blipFill>
          <a:blip r:embed="rId3"/>
          <a:stretch>
            <a:fillRect/>
          </a:stretch>
        </p:blipFill>
        <p:spPr>
          <a:xfrm>
            <a:off x="424762" y="222159"/>
            <a:ext cx="514350" cy="58102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04227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FFFFFF"/>
                </a:solidFill>
                <a:latin typeface="Saira Medium" pitchFamily="34" charset="0"/>
                <a:ea typeface="Saira Medium" pitchFamily="34" charset="-122"/>
                <a:cs typeface="Saira Medium" pitchFamily="34" charset="-120"/>
              </a:rPr>
              <a:t>HACK KRMU 5.0</a:t>
            </a:r>
            <a:endParaRPr lang="en-US" sz="2200" dirty="0"/>
          </a:p>
        </p:txBody>
      </p:sp>
      <p:sp>
        <p:nvSpPr>
          <p:cNvPr id="3" name="Text 1"/>
          <p:cNvSpPr/>
          <p:nvPr/>
        </p:nvSpPr>
        <p:spPr>
          <a:xfrm>
            <a:off x="1454825" y="1736765"/>
            <a:ext cx="11720632" cy="1417677"/>
          </a:xfrm>
          <a:prstGeom prst="rect">
            <a:avLst/>
          </a:prstGeom>
          <a:noFill/>
          <a:ln/>
        </p:spPr>
        <p:txBody>
          <a:bodyPr wrap="none" lIns="0" tIns="0" rIns="0" bIns="0" rtlCol="0" anchor="t"/>
          <a:lstStyle/>
          <a:p>
            <a:pPr marL="0" indent="0" algn="ctr">
              <a:lnSpc>
                <a:spcPts val="11150"/>
              </a:lnSpc>
              <a:buNone/>
            </a:pPr>
            <a:r>
              <a:rPr lang="en-US" sz="8900" dirty="0">
                <a:solidFill>
                  <a:srgbClr val="FFFFFF"/>
                </a:solidFill>
                <a:latin typeface="Saira Medium" pitchFamily="34" charset="0"/>
                <a:ea typeface="Saira Medium" pitchFamily="34" charset="-122"/>
                <a:cs typeface="Saira Medium" pitchFamily="34" charset="-120"/>
              </a:rPr>
              <a:t>SOLUTION OVERVIEW</a:t>
            </a:r>
            <a:endParaRPr lang="en-US" sz="8900" dirty="0"/>
          </a:p>
        </p:txBody>
      </p:sp>
      <p:sp>
        <p:nvSpPr>
          <p:cNvPr id="4" name="Text 2"/>
          <p:cNvSpPr/>
          <p:nvPr/>
        </p:nvSpPr>
        <p:spPr>
          <a:xfrm>
            <a:off x="793790" y="3494603"/>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pitchFamily="34" charset="0"/>
                <a:ea typeface="Roboto" pitchFamily="34" charset="-122"/>
                <a:cs typeface="Roboto" pitchFamily="34" charset="-120"/>
              </a:rPr>
              <a:t>AI-powered Early Warning System that predicts outbreak risk by fusing water quality indicators with hospital case trends. The system issues timely, actionable alerts to public health teams to enable preventive interventions.</a:t>
            </a:r>
            <a:endParaRPr lang="en-US" sz="1750" dirty="0"/>
          </a:p>
        </p:txBody>
      </p:sp>
      <p:sp>
        <p:nvSpPr>
          <p:cNvPr id="5" name="Shape 3"/>
          <p:cNvSpPr/>
          <p:nvPr/>
        </p:nvSpPr>
        <p:spPr>
          <a:xfrm>
            <a:off x="793790" y="4475559"/>
            <a:ext cx="4196358" cy="2093714"/>
          </a:xfrm>
          <a:prstGeom prst="roundRect">
            <a:avLst>
              <a:gd name="adj" fmla="val 9750"/>
            </a:avLst>
          </a:prstGeom>
          <a:solidFill>
            <a:srgbClr val="030303">
              <a:alpha val="75000"/>
            </a:srgbClr>
          </a:solidFill>
          <a:ln w="30480">
            <a:solidFill>
              <a:srgbClr val="FC8337"/>
            </a:solidFill>
            <a:prstDash val="solid"/>
          </a:ln>
        </p:spPr>
        <p:txBody>
          <a:bodyPr/>
          <a:lstStyle/>
          <a:p>
            <a:endParaRPr lang="en-IN"/>
          </a:p>
        </p:txBody>
      </p:sp>
      <p:sp>
        <p:nvSpPr>
          <p:cNvPr id="6" name="Text 4"/>
          <p:cNvSpPr/>
          <p:nvPr/>
        </p:nvSpPr>
        <p:spPr>
          <a:xfrm>
            <a:off x="1051084" y="473285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Saira Medium" pitchFamily="34" charset="0"/>
                <a:ea typeface="Saira Medium" pitchFamily="34" charset="-122"/>
                <a:cs typeface="Saira Medium" pitchFamily="34" charset="-120"/>
              </a:rPr>
              <a:t>Integrated data</a:t>
            </a:r>
            <a:endParaRPr lang="en-US" sz="2200" dirty="0"/>
          </a:p>
        </p:txBody>
      </p:sp>
      <p:sp>
        <p:nvSpPr>
          <p:cNvPr id="7" name="Text 5"/>
          <p:cNvSpPr/>
          <p:nvPr/>
        </p:nvSpPr>
        <p:spPr>
          <a:xfrm>
            <a:off x="1051084" y="5223272"/>
            <a:ext cx="3681770" cy="1088708"/>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pitchFamily="34" charset="0"/>
                <a:ea typeface="Roboto" pitchFamily="34" charset="-122"/>
                <a:cs typeface="Roboto" pitchFamily="34" charset="-120"/>
              </a:rPr>
              <a:t>Combine water contamination metrics and daily hospital cases by location and time.</a:t>
            </a:r>
            <a:endParaRPr lang="en-US" sz="1750" dirty="0"/>
          </a:p>
        </p:txBody>
      </p:sp>
      <p:sp>
        <p:nvSpPr>
          <p:cNvPr id="8" name="Shape 6"/>
          <p:cNvSpPr/>
          <p:nvPr/>
        </p:nvSpPr>
        <p:spPr>
          <a:xfrm>
            <a:off x="5216962" y="4475559"/>
            <a:ext cx="4196358" cy="2093714"/>
          </a:xfrm>
          <a:prstGeom prst="roundRect">
            <a:avLst>
              <a:gd name="adj" fmla="val 9750"/>
            </a:avLst>
          </a:prstGeom>
          <a:solidFill>
            <a:srgbClr val="030303">
              <a:alpha val="75000"/>
            </a:srgbClr>
          </a:solidFill>
          <a:ln w="30480">
            <a:solidFill>
              <a:srgbClr val="FC8337"/>
            </a:solidFill>
            <a:prstDash val="solid"/>
          </a:ln>
        </p:spPr>
        <p:txBody>
          <a:bodyPr/>
          <a:lstStyle/>
          <a:p>
            <a:endParaRPr lang="en-IN"/>
          </a:p>
        </p:txBody>
      </p:sp>
      <p:sp>
        <p:nvSpPr>
          <p:cNvPr id="9" name="Text 7"/>
          <p:cNvSpPr/>
          <p:nvPr/>
        </p:nvSpPr>
        <p:spPr>
          <a:xfrm>
            <a:off x="5474256" y="473285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Saira Medium" pitchFamily="34" charset="0"/>
                <a:ea typeface="Saira Medium" pitchFamily="34" charset="-122"/>
                <a:cs typeface="Saira Medium" pitchFamily="34" charset="-120"/>
              </a:rPr>
              <a:t>Lag learning</a:t>
            </a:r>
            <a:endParaRPr lang="en-US" sz="2200" dirty="0"/>
          </a:p>
        </p:txBody>
      </p:sp>
      <p:sp>
        <p:nvSpPr>
          <p:cNvPr id="10" name="Text 8"/>
          <p:cNvSpPr/>
          <p:nvPr/>
        </p:nvSpPr>
        <p:spPr>
          <a:xfrm>
            <a:off x="5474256" y="5223272"/>
            <a:ext cx="3681770" cy="1088708"/>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pitchFamily="34" charset="0"/>
                <a:ea typeface="Roboto" pitchFamily="34" charset="-122"/>
                <a:cs typeface="Roboto" pitchFamily="34" charset="-120"/>
              </a:rPr>
              <a:t>Model learns delays between contamination events and clinical case increases.</a:t>
            </a:r>
            <a:endParaRPr lang="en-US" sz="1750" dirty="0"/>
          </a:p>
        </p:txBody>
      </p:sp>
      <p:sp>
        <p:nvSpPr>
          <p:cNvPr id="11" name="Shape 9"/>
          <p:cNvSpPr/>
          <p:nvPr/>
        </p:nvSpPr>
        <p:spPr>
          <a:xfrm>
            <a:off x="9640133" y="4475559"/>
            <a:ext cx="4196358" cy="2093714"/>
          </a:xfrm>
          <a:prstGeom prst="roundRect">
            <a:avLst>
              <a:gd name="adj" fmla="val 9750"/>
            </a:avLst>
          </a:prstGeom>
          <a:solidFill>
            <a:srgbClr val="030303">
              <a:alpha val="75000"/>
            </a:srgbClr>
          </a:solidFill>
          <a:ln w="30480">
            <a:solidFill>
              <a:srgbClr val="FC8337"/>
            </a:solidFill>
            <a:prstDash val="solid"/>
          </a:ln>
        </p:spPr>
        <p:txBody>
          <a:bodyPr/>
          <a:lstStyle/>
          <a:p>
            <a:endParaRPr lang="en-IN"/>
          </a:p>
        </p:txBody>
      </p:sp>
      <p:sp>
        <p:nvSpPr>
          <p:cNvPr id="12" name="Text 10"/>
          <p:cNvSpPr/>
          <p:nvPr/>
        </p:nvSpPr>
        <p:spPr>
          <a:xfrm>
            <a:off x="9897427" y="473285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Saira Medium" pitchFamily="34" charset="0"/>
                <a:ea typeface="Saira Medium" pitchFamily="34" charset="-122"/>
                <a:cs typeface="Saira Medium" pitchFamily="34" charset="-120"/>
              </a:rPr>
              <a:t>Actionable alerts</a:t>
            </a:r>
            <a:endParaRPr lang="en-US" sz="2200" dirty="0"/>
          </a:p>
        </p:txBody>
      </p:sp>
      <p:sp>
        <p:nvSpPr>
          <p:cNvPr id="13" name="Text 11"/>
          <p:cNvSpPr/>
          <p:nvPr/>
        </p:nvSpPr>
        <p:spPr>
          <a:xfrm>
            <a:off x="9897427" y="5223272"/>
            <a:ext cx="3681770" cy="1088708"/>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pitchFamily="34" charset="0"/>
                <a:ea typeface="Roboto" pitchFamily="34" charset="-122"/>
                <a:cs typeface="Roboto" pitchFamily="34" charset="-120"/>
              </a:rPr>
              <a:t>Classified risk levels and dashboard visualisations drive timely public health action.</a:t>
            </a:r>
            <a:endParaRPr lang="en-US" sz="1750" dirty="0"/>
          </a:p>
        </p:txBody>
      </p:sp>
      <p:sp>
        <p:nvSpPr>
          <p:cNvPr id="14" name="Text 12"/>
          <p:cNvSpPr/>
          <p:nvPr/>
        </p:nvSpPr>
        <p:spPr>
          <a:xfrm>
            <a:off x="793790" y="6824424"/>
            <a:ext cx="13042821" cy="362903"/>
          </a:xfrm>
          <a:prstGeom prst="rect">
            <a:avLst/>
          </a:prstGeom>
          <a:noFill/>
          <a:ln/>
        </p:spPr>
        <p:txBody>
          <a:bodyPr wrap="none" lIns="0" tIns="0" rIns="0" bIns="0" rtlCol="0" anchor="t"/>
          <a:lstStyle/>
          <a:p>
            <a:pPr marL="0" indent="0" algn="r">
              <a:lnSpc>
                <a:spcPts val="2850"/>
              </a:lnSpc>
              <a:buNone/>
            </a:pPr>
            <a:r>
              <a:rPr lang="en-US" sz="1750" dirty="0">
                <a:solidFill>
                  <a:srgbClr val="E5E0DF"/>
                </a:solidFill>
                <a:latin typeface="Roboto" pitchFamily="34" charset="0"/>
                <a:ea typeface="Roboto" pitchFamily="34" charset="-122"/>
                <a:cs typeface="Roboto" pitchFamily="34" charset="-120"/>
              </a:rPr>
              <a:t>03</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98888" y="509187"/>
            <a:ext cx="2144078" cy="268010"/>
          </a:xfrm>
          <a:prstGeom prst="rect">
            <a:avLst/>
          </a:prstGeom>
          <a:noFill/>
          <a:ln/>
        </p:spPr>
        <p:txBody>
          <a:bodyPr wrap="none" lIns="0" tIns="0" rIns="0" bIns="0" rtlCol="0" anchor="t"/>
          <a:lstStyle/>
          <a:p>
            <a:pPr marL="0" indent="0" algn="l">
              <a:lnSpc>
                <a:spcPts val="2100"/>
              </a:lnSpc>
              <a:buNone/>
            </a:pPr>
            <a:r>
              <a:rPr lang="en-US" sz="1650" dirty="0">
                <a:solidFill>
                  <a:srgbClr val="FFFFFF"/>
                </a:solidFill>
                <a:latin typeface="Saira Medium" pitchFamily="34" charset="0"/>
                <a:ea typeface="Saira Medium" pitchFamily="34" charset="-122"/>
                <a:cs typeface="Saira Medium" pitchFamily="34" charset="-120"/>
              </a:rPr>
              <a:t>HACK KRMU 5.0</a:t>
            </a:r>
            <a:endParaRPr lang="en-US" sz="1650" dirty="0"/>
          </a:p>
        </p:txBody>
      </p:sp>
      <p:sp>
        <p:nvSpPr>
          <p:cNvPr id="3" name="Text 1"/>
          <p:cNvSpPr/>
          <p:nvPr/>
        </p:nvSpPr>
        <p:spPr>
          <a:xfrm>
            <a:off x="3026807" y="963097"/>
            <a:ext cx="8576667" cy="1072158"/>
          </a:xfrm>
          <a:prstGeom prst="rect">
            <a:avLst/>
          </a:prstGeom>
          <a:noFill/>
          <a:ln/>
        </p:spPr>
        <p:txBody>
          <a:bodyPr wrap="none" lIns="0" tIns="0" rIns="0" bIns="0" rtlCol="0" anchor="t"/>
          <a:lstStyle/>
          <a:p>
            <a:pPr marL="0" indent="0" algn="ctr">
              <a:lnSpc>
                <a:spcPts val="8400"/>
              </a:lnSpc>
              <a:buNone/>
            </a:pPr>
            <a:r>
              <a:rPr lang="en-US" sz="6750" dirty="0">
                <a:solidFill>
                  <a:srgbClr val="FFFFFF"/>
                </a:solidFill>
                <a:latin typeface="Saira Medium" pitchFamily="34" charset="0"/>
                <a:ea typeface="Saira Medium" pitchFamily="34" charset="-122"/>
                <a:cs typeface="Saira Medium" pitchFamily="34" charset="-120"/>
              </a:rPr>
              <a:t>FLOW OF SOLUTION</a:t>
            </a:r>
            <a:endParaRPr lang="en-US" sz="6750" dirty="0"/>
          </a:p>
        </p:txBody>
      </p:sp>
      <p:pic>
        <p:nvPicPr>
          <p:cNvPr id="4" name="Image 0" descr="preencoded.png"/>
          <p:cNvPicPr>
            <a:picLocks noChangeAspect="1"/>
          </p:cNvPicPr>
          <p:nvPr/>
        </p:nvPicPr>
        <p:blipFill>
          <a:blip r:embed="rId3"/>
          <a:stretch>
            <a:fillRect/>
          </a:stretch>
        </p:blipFill>
        <p:spPr>
          <a:xfrm>
            <a:off x="1397318" y="2229803"/>
            <a:ext cx="11835765" cy="5112425"/>
          </a:xfrm>
          <a:prstGeom prst="rect">
            <a:avLst/>
          </a:prstGeom>
        </p:spPr>
      </p:pic>
      <p:sp>
        <p:nvSpPr>
          <p:cNvPr id="5" name="Text 2"/>
          <p:cNvSpPr/>
          <p:nvPr/>
        </p:nvSpPr>
        <p:spPr>
          <a:xfrm>
            <a:off x="4221615" y="5698256"/>
            <a:ext cx="1757411" cy="640158"/>
          </a:xfrm>
          <a:prstGeom prst="rect">
            <a:avLst/>
          </a:prstGeom>
          <a:noFill/>
          <a:ln/>
        </p:spPr>
        <p:txBody>
          <a:bodyPr wrap="square" lIns="0" tIns="0" rIns="0" bIns="0" rtlCol="0" anchor="t"/>
          <a:lstStyle/>
          <a:p>
            <a:pPr marL="0" indent="0" algn="ctr">
              <a:lnSpc>
                <a:spcPts val="2500"/>
              </a:lnSpc>
              <a:buNone/>
            </a:pPr>
            <a:r>
              <a:rPr lang="en-US" sz="2000" dirty="0">
                <a:solidFill>
                  <a:srgbClr val="E5E0DF"/>
                </a:solidFill>
                <a:latin typeface="Saira Medium" pitchFamily="34" charset="0"/>
                <a:ea typeface="Saira Medium" pitchFamily="34" charset="-122"/>
                <a:cs typeface="Saira Medium" pitchFamily="34" charset="-120"/>
              </a:rPr>
              <a:t>Data Integration</a:t>
            </a:r>
            <a:endParaRPr lang="en-US" sz="2000" dirty="0"/>
          </a:p>
        </p:txBody>
      </p:sp>
      <p:sp>
        <p:nvSpPr>
          <p:cNvPr id="6" name="Text 3"/>
          <p:cNvSpPr/>
          <p:nvPr/>
        </p:nvSpPr>
        <p:spPr>
          <a:xfrm>
            <a:off x="4221615" y="6429459"/>
            <a:ext cx="1757411" cy="449533"/>
          </a:xfrm>
          <a:prstGeom prst="rect">
            <a:avLst/>
          </a:prstGeom>
          <a:noFill/>
          <a:ln/>
        </p:spPr>
        <p:txBody>
          <a:bodyPr wrap="square" lIns="0" tIns="0" rIns="0" bIns="0" rtlCol="0" anchor="t"/>
          <a:lstStyle/>
          <a:p>
            <a:pPr marL="0" indent="0" algn="ctr">
              <a:lnSpc>
                <a:spcPts val="1750"/>
              </a:lnSpc>
              <a:buNone/>
            </a:pPr>
            <a:r>
              <a:rPr lang="en-US" sz="1600" dirty="0">
                <a:solidFill>
                  <a:srgbClr val="E5E0DF"/>
                </a:solidFill>
                <a:latin typeface="Roboto" pitchFamily="34" charset="0"/>
                <a:ea typeface="Roboto" pitchFamily="34" charset="-122"/>
                <a:cs typeface="Roboto" pitchFamily="34" charset="-120"/>
              </a:rPr>
              <a:t>Merge by date &amp; location, clean</a:t>
            </a:r>
            <a:endParaRPr lang="en-US" sz="1600" dirty="0"/>
          </a:p>
        </p:txBody>
      </p:sp>
      <p:sp>
        <p:nvSpPr>
          <p:cNvPr id="7" name="Text 4"/>
          <p:cNvSpPr/>
          <p:nvPr/>
        </p:nvSpPr>
        <p:spPr>
          <a:xfrm>
            <a:off x="8734194" y="6018335"/>
            <a:ext cx="1757411" cy="320079"/>
          </a:xfrm>
          <a:prstGeom prst="rect">
            <a:avLst/>
          </a:prstGeom>
          <a:noFill/>
          <a:ln/>
        </p:spPr>
        <p:txBody>
          <a:bodyPr wrap="none" lIns="0" tIns="0" rIns="0" bIns="0" rtlCol="0" anchor="t"/>
          <a:lstStyle/>
          <a:p>
            <a:pPr marL="0" indent="0" algn="ctr">
              <a:lnSpc>
                <a:spcPts val="2500"/>
              </a:lnSpc>
              <a:buNone/>
            </a:pPr>
            <a:r>
              <a:rPr lang="en-US" sz="2000" dirty="0">
                <a:solidFill>
                  <a:srgbClr val="FFFFFF"/>
                </a:solidFill>
                <a:latin typeface="Saira Medium" pitchFamily="34" charset="0"/>
                <a:ea typeface="Saira Medium" pitchFamily="34" charset="-122"/>
                <a:cs typeface="Saira Medium" pitchFamily="34" charset="-120"/>
              </a:rPr>
              <a:t>ML Model</a:t>
            </a:r>
            <a:endParaRPr lang="en-US" sz="2000" dirty="0"/>
          </a:p>
        </p:txBody>
      </p:sp>
      <p:sp>
        <p:nvSpPr>
          <p:cNvPr id="8" name="Text 5"/>
          <p:cNvSpPr/>
          <p:nvPr/>
        </p:nvSpPr>
        <p:spPr>
          <a:xfrm>
            <a:off x="8734194" y="6429459"/>
            <a:ext cx="1757411" cy="449533"/>
          </a:xfrm>
          <a:prstGeom prst="rect">
            <a:avLst/>
          </a:prstGeom>
          <a:noFill/>
          <a:ln/>
        </p:spPr>
        <p:txBody>
          <a:bodyPr wrap="square" lIns="0" tIns="0" rIns="0" bIns="0" rtlCol="0" anchor="t"/>
          <a:lstStyle/>
          <a:p>
            <a:pPr marL="0" indent="0" algn="ctr">
              <a:lnSpc>
                <a:spcPts val="1750"/>
              </a:lnSpc>
              <a:buNone/>
            </a:pPr>
            <a:r>
              <a:rPr lang="en-US" sz="1600" dirty="0">
                <a:solidFill>
                  <a:srgbClr val="E5E0DF"/>
                </a:solidFill>
                <a:latin typeface="Roboto" pitchFamily="34" charset="0"/>
                <a:ea typeface="Roboto" pitchFamily="34" charset="-122"/>
                <a:cs typeface="Roboto" pitchFamily="34" charset="-120"/>
              </a:rPr>
              <a:t>Classification for risk</a:t>
            </a:r>
            <a:endParaRPr lang="en-US" sz="1600" dirty="0"/>
          </a:p>
        </p:txBody>
      </p:sp>
      <p:sp>
        <p:nvSpPr>
          <p:cNvPr id="9" name="Text 6"/>
          <p:cNvSpPr/>
          <p:nvPr/>
        </p:nvSpPr>
        <p:spPr>
          <a:xfrm>
            <a:off x="1970927" y="2691115"/>
            <a:ext cx="1757411" cy="640158"/>
          </a:xfrm>
          <a:prstGeom prst="rect">
            <a:avLst/>
          </a:prstGeom>
          <a:noFill/>
          <a:ln/>
        </p:spPr>
        <p:txBody>
          <a:bodyPr wrap="square" lIns="0" tIns="0" rIns="0" bIns="0" rtlCol="0" anchor="t"/>
          <a:lstStyle/>
          <a:p>
            <a:pPr marL="0" indent="0" algn="ctr">
              <a:lnSpc>
                <a:spcPts val="2500"/>
              </a:lnSpc>
              <a:buNone/>
            </a:pPr>
            <a:r>
              <a:rPr lang="en-US" sz="2000" dirty="0">
                <a:solidFill>
                  <a:srgbClr val="E5E0DF"/>
                </a:solidFill>
                <a:latin typeface="Saira Medium" pitchFamily="34" charset="0"/>
                <a:ea typeface="Saira Medium" pitchFamily="34" charset="-122"/>
                <a:cs typeface="Saira Medium" pitchFamily="34" charset="-120"/>
              </a:rPr>
              <a:t>Data Collection</a:t>
            </a:r>
            <a:endParaRPr lang="en-US" sz="2000" dirty="0"/>
          </a:p>
        </p:txBody>
      </p:sp>
      <p:sp>
        <p:nvSpPr>
          <p:cNvPr id="10" name="Text 7"/>
          <p:cNvSpPr/>
          <p:nvPr/>
        </p:nvSpPr>
        <p:spPr>
          <a:xfrm>
            <a:off x="1970927" y="3422318"/>
            <a:ext cx="1757411" cy="449533"/>
          </a:xfrm>
          <a:prstGeom prst="rect">
            <a:avLst/>
          </a:prstGeom>
          <a:noFill/>
          <a:ln/>
        </p:spPr>
        <p:txBody>
          <a:bodyPr wrap="square" lIns="0" tIns="0" rIns="0" bIns="0" rtlCol="0" anchor="t"/>
          <a:lstStyle/>
          <a:p>
            <a:pPr marL="0" indent="0" algn="ctr">
              <a:lnSpc>
                <a:spcPts val="1750"/>
              </a:lnSpc>
              <a:buNone/>
            </a:pPr>
            <a:r>
              <a:rPr lang="en-US" sz="1600" dirty="0">
                <a:solidFill>
                  <a:srgbClr val="E5E0DF"/>
                </a:solidFill>
                <a:latin typeface="Roboto" pitchFamily="34" charset="0"/>
                <a:ea typeface="Roboto" pitchFamily="34" charset="-122"/>
                <a:cs typeface="Roboto" pitchFamily="34" charset="-120"/>
              </a:rPr>
              <a:t>Water, hospital, mapping</a:t>
            </a:r>
            <a:endParaRPr lang="en-US" sz="1600" dirty="0"/>
          </a:p>
        </p:txBody>
      </p:sp>
      <p:sp>
        <p:nvSpPr>
          <p:cNvPr id="11" name="Text 8"/>
          <p:cNvSpPr/>
          <p:nvPr/>
        </p:nvSpPr>
        <p:spPr>
          <a:xfrm>
            <a:off x="10917843" y="2691115"/>
            <a:ext cx="1757411" cy="640158"/>
          </a:xfrm>
          <a:prstGeom prst="rect">
            <a:avLst/>
          </a:prstGeom>
          <a:noFill/>
          <a:ln/>
        </p:spPr>
        <p:txBody>
          <a:bodyPr wrap="square" lIns="0" tIns="0" rIns="0" bIns="0" rtlCol="0" anchor="t"/>
          <a:lstStyle/>
          <a:p>
            <a:pPr marL="0" indent="0" algn="ctr">
              <a:lnSpc>
                <a:spcPts val="2500"/>
              </a:lnSpc>
              <a:buNone/>
            </a:pPr>
            <a:r>
              <a:rPr lang="en-US" sz="2000" dirty="0">
                <a:solidFill>
                  <a:srgbClr val="E5E0DF"/>
                </a:solidFill>
                <a:latin typeface="Saira Medium" pitchFamily="34" charset="0"/>
                <a:ea typeface="Saira Medium" pitchFamily="34" charset="-122"/>
                <a:cs typeface="Saira Medium" pitchFamily="34" charset="-120"/>
              </a:rPr>
              <a:t>Dashboard &amp; Alerts</a:t>
            </a:r>
            <a:endParaRPr lang="en-US" sz="2000" dirty="0"/>
          </a:p>
        </p:txBody>
      </p:sp>
      <p:sp>
        <p:nvSpPr>
          <p:cNvPr id="12" name="Text 9"/>
          <p:cNvSpPr/>
          <p:nvPr/>
        </p:nvSpPr>
        <p:spPr>
          <a:xfrm>
            <a:off x="10917843" y="3422318"/>
            <a:ext cx="1757411" cy="449533"/>
          </a:xfrm>
          <a:prstGeom prst="rect">
            <a:avLst/>
          </a:prstGeom>
          <a:noFill/>
          <a:ln/>
        </p:spPr>
        <p:txBody>
          <a:bodyPr wrap="square" lIns="0" tIns="0" rIns="0" bIns="0" rtlCol="0" anchor="t"/>
          <a:lstStyle/>
          <a:p>
            <a:pPr marL="0" indent="0" algn="ctr">
              <a:lnSpc>
                <a:spcPts val="1750"/>
              </a:lnSpc>
              <a:buNone/>
            </a:pPr>
            <a:r>
              <a:rPr lang="en-US" sz="1600" dirty="0">
                <a:solidFill>
                  <a:srgbClr val="E5E0DF"/>
                </a:solidFill>
                <a:latin typeface="Roboto" pitchFamily="34" charset="0"/>
                <a:ea typeface="Roboto" pitchFamily="34" charset="-122"/>
                <a:cs typeface="Roboto" pitchFamily="34" charset="-120"/>
              </a:rPr>
              <a:t>Risk levels, visuals &amp; notifications</a:t>
            </a:r>
            <a:endParaRPr lang="en-US" sz="1600" dirty="0"/>
          </a:p>
        </p:txBody>
      </p:sp>
      <p:sp>
        <p:nvSpPr>
          <p:cNvPr id="13" name="Text 10"/>
          <p:cNvSpPr/>
          <p:nvPr/>
        </p:nvSpPr>
        <p:spPr>
          <a:xfrm>
            <a:off x="6505912" y="2691115"/>
            <a:ext cx="1757411" cy="640158"/>
          </a:xfrm>
          <a:prstGeom prst="rect">
            <a:avLst/>
          </a:prstGeom>
          <a:noFill/>
          <a:ln/>
        </p:spPr>
        <p:txBody>
          <a:bodyPr wrap="square" lIns="0" tIns="0" rIns="0" bIns="0" rtlCol="0" anchor="t"/>
          <a:lstStyle/>
          <a:p>
            <a:pPr marL="0" indent="0" algn="ctr">
              <a:lnSpc>
                <a:spcPts val="2500"/>
              </a:lnSpc>
              <a:buNone/>
            </a:pPr>
            <a:r>
              <a:rPr lang="en-US" sz="2000" dirty="0">
                <a:solidFill>
                  <a:srgbClr val="FFFFFF"/>
                </a:solidFill>
                <a:latin typeface="Saira Medium" pitchFamily="34" charset="0"/>
                <a:ea typeface="Saira Medium" pitchFamily="34" charset="-122"/>
                <a:cs typeface="Saira Medium" pitchFamily="34" charset="-120"/>
              </a:rPr>
              <a:t>Feature Engineering</a:t>
            </a:r>
            <a:endParaRPr lang="en-US" sz="2000" dirty="0"/>
          </a:p>
        </p:txBody>
      </p:sp>
      <p:sp>
        <p:nvSpPr>
          <p:cNvPr id="14" name="Text 11"/>
          <p:cNvSpPr/>
          <p:nvPr/>
        </p:nvSpPr>
        <p:spPr>
          <a:xfrm>
            <a:off x="6505912" y="3422318"/>
            <a:ext cx="1757411" cy="674299"/>
          </a:xfrm>
          <a:prstGeom prst="rect">
            <a:avLst/>
          </a:prstGeom>
          <a:noFill/>
          <a:ln/>
        </p:spPr>
        <p:txBody>
          <a:bodyPr wrap="square" lIns="0" tIns="0" rIns="0" bIns="0" rtlCol="0" anchor="t"/>
          <a:lstStyle/>
          <a:p>
            <a:pPr marL="0" indent="0" algn="ctr">
              <a:lnSpc>
                <a:spcPts val="1750"/>
              </a:lnSpc>
              <a:buNone/>
            </a:pPr>
            <a:r>
              <a:rPr lang="en-US" sz="1600" dirty="0">
                <a:solidFill>
                  <a:srgbClr val="E5E0DF"/>
                </a:solidFill>
                <a:latin typeface="Roboto" pitchFamily="34" charset="0"/>
                <a:ea typeface="Roboto" pitchFamily="34" charset="-122"/>
                <a:cs typeface="Roboto" pitchFamily="34" charset="-120"/>
              </a:rPr>
              <a:t>Lags, moving averages, spike flags</a:t>
            </a:r>
            <a:endParaRPr lang="en-US" sz="1600" dirty="0"/>
          </a:p>
        </p:txBody>
      </p:sp>
      <p:sp>
        <p:nvSpPr>
          <p:cNvPr id="15" name="Text 12"/>
          <p:cNvSpPr/>
          <p:nvPr/>
        </p:nvSpPr>
        <p:spPr>
          <a:xfrm>
            <a:off x="1397318" y="7488079"/>
            <a:ext cx="11835765" cy="240983"/>
          </a:xfrm>
          <a:prstGeom prst="rect">
            <a:avLst/>
          </a:prstGeom>
          <a:noFill/>
          <a:ln/>
        </p:spPr>
        <p:txBody>
          <a:bodyPr wrap="none" lIns="0" tIns="0" rIns="0" bIns="0" rtlCol="0" anchor="t"/>
          <a:lstStyle/>
          <a:p>
            <a:pPr marL="0" indent="0" algn="r">
              <a:lnSpc>
                <a:spcPts val="1850"/>
              </a:lnSpc>
              <a:buNone/>
            </a:pPr>
            <a:r>
              <a:rPr lang="en-US" sz="1350" dirty="0">
                <a:solidFill>
                  <a:srgbClr val="E5E0DF"/>
                </a:solidFill>
                <a:latin typeface="Roboto" pitchFamily="34" charset="0"/>
                <a:ea typeface="Roboto" pitchFamily="34" charset="-122"/>
                <a:cs typeface="Roboto" pitchFamily="34" charset="-120"/>
              </a:rPr>
              <a:t>04</a:t>
            </a:r>
            <a:endParaRPr lang="en-US" sz="1350" dirty="0"/>
          </a:p>
        </p:txBody>
      </p:sp>
      <p:pic>
        <p:nvPicPr>
          <p:cNvPr id="17" name="Picture 16">
            <a:extLst>
              <a:ext uri="{FF2B5EF4-FFF2-40B4-BE49-F238E27FC236}">
                <a16:creationId xmlns:a16="http://schemas.microsoft.com/office/drawing/2014/main" id="{01A4F132-944D-079C-47DB-8EC2591A59C2}"/>
              </a:ext>
            </a:extLst>
          </p:cNvPr>
          <p:cNvPicPr>
            <a:picLocks noChangeAspect="1"/>
          </p:cNvPicPr>
          <p:nvPr/>
        </p:nvPicPr>
        <p:blipFill>
          <a:blip r:embed="rId4"/>
          <a:stretch>
            <a:fillRect/>
          </a:stretch>
        </p:blipFill>
        <p:spPr>
          <a:xfrm>
            <a:off x="137434" y="334359"/>
            <a:ext cx="619211" cy="62873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820341"/>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FFFFFF"/>
                </a:solidFill>
                <a:latin typeface="Saira Medium" pitchFamily="34" charset="0"/>
                <a:ea typeface="Saira Medium" pitchFamily="34" charset="-122"/>
                <a:cs typeface="Saira Medium" pitchFamily="34" charset="-120"/>
              </a:rPr>
              <a:t>HACK KRMU 5.0</a:t>
            </a:r>
            <a:endParaRPr lang="en-US" sz="2200" dirty="0"/>
          </a:p>
        </p:txBody>
      </p:sp>
      <p:sp>
        <p:nvSpPr>
          <p:cNvPr id="3" name="Text 1"/>
          <p:cNvSpPr/>
          <p:nvPr/>
        </p:nvSpPr>
        <p:spPr>
          <a:xfrm>
            <a:off x="793790" y="1514832"/>
            <a:ext cx="13042821" cy="2835354"/>
          </a:xfrm>
          <a:prstGeom prst="rect">
            <a:avLst/>
          </a:prstGeom>
          <a:noFill/>
          <a:ln/>
        </p:spPr>
        <p:txBody>
          <a:bodyPr wrap="square" lIns="0" tIns="0" rIns="0" bIns="0" rtlCol="0" anchor="t"/>
          <a:lstStyle/>
          <a:p>
            <a:pPr marL="0" indent="0" algn="ctr">
              <a:lnSpc>
                <a:spcPts val="11150"/>
              </a:lnSpc>
              <a:buNone/>
            </a:pPr>
            <a:r>
              <a:rPr lang="en-US" sz="8900" dirty="0">
                <a:solidFill>
                  <a:srgbClr val="FFFFFF"/>
                </a:solidFill>
                <a:latin typeface="Saira Medium" pitchFamily="34" charset="0"/>
                <a:ea typeface="Saira Medium" pitchFamily="34" charset="-122"/>
                <a:cs typeface="Saira Medium" pitchFamily="34" charset="-120"/>
              </a:rPr>
              <a:t>TECH STACK &amp; APPROACH</a:t>
            </a:r>
            <a:endParaRPr lang="en-US" sz="8900" dirty="0"/>
          </a:p>
        </p:txBody>
      </p:sp>
      <p:sp>
        <p:nvSpPr>
          <p:cNvPr id="4" name="Text 2"/>
          <p:cNvSpPr/>
          <p:nvPr/>
        </p:nvSpPr>
        <p:spPr>
          <a:xfrm>
            <a:off x="793790" y="491716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FFFFFF"/>
                </a:solidFill>
                <a:latin typeface="Saira Medium" pitchFamily="34" charset="0"/>
                <a:ea typeface="Saira Medium" pitchFamily="34" charset="-122"/>
                <a:cs typeface="Saira Medium" pitchFamily="34" charset="-120"/>
              </a:rPr>
              <a:t>Backend &amp; Analysis</a:t>
            </a:r>
            <a:endParaRPr lang="en-US" sz="2200" dirty="0"/>
          </a:p>
        </p:txBody>
      </p:sp>
      <p:sp>
        <p:nvSpPr>
          <p:cNvPr id="5" name="Text 3"/>
          <p:cNvSpPr/>
          <p:nvPr/>
        </p:nvSpPr>
        <p:spPr>
          <a:xfrm>
            <a:off x="793790" y="5498306"/>
            <a:ext cx="6244709" cy="1088708"/>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pitchFamily="34" charset="0"/>
                <a:ea typeface="Roboto" pitchFamily="34" charset="-122"/>
                <a:cs typeface="Roboto" pitchFamily="34" charset="-120"/>
              </a:rPr>
              <a:t>Python, Pandas and NumPy for cleaning and feature engineering; Scikit‑learn for lightweight models suitable for rapid retraining.</a:t>
            </a:r>
            <a:endParaRPr lang="en-US" sz="1750" dirty="0"/>
          </a:p>
        </p:txBody>
      </p:sp>
      <p:sp>
        <p:nvSpPr>
          <p:cNvPr id="6" name="Text 4"/>
          <p:cNvSpPr/>
          <p:nvPr/>
        </p:nvSpPr>
        <p:spPr>
          <a:xfrm>
            <a:off x="7599521" y="4917162"/>
            <a:ext cx="3652123" cy="354330"/>
          </a:xfrm>
          <a:prstGeom prst="rect">
            <a:avLst/>
          </a:prstGeom>
          <a:noFill/>
          <a:ln/>
        </p:spPr>
        <p:txBody>
          <a:bodyPr wrap="none" lIns="0" tIns="0" rIns="0" bIns="0" rtlCol="0" anchor="t"/>
          <a:lstStyle/>
          <a:p>
            <a:pPr marL="0" indent="0" algn="l">
              <a:lnSpc>
                <a:spcPts val="2750"/>
              </a:lnSpc>
              <a:buNone/>
            </a:pPr>
            <a:r>
              <a:rPr lang="en-US" sz="2200" dirty="0">
                <a:solidFill>
                  <a:srgbClr val="FFFFFF"/>
                </a:solidFill>
                <a:latin typeface="Saira Medium" pitchFamily="34" charset="0"/>
                <a:ea typeface="Saira Medium" pitchFamily="34" charset="-122"/>
                <a:cs typeface="Saira Medium" pitchFamily="34" charset="-120"/>
              </a:rPr>
              <a:t>Visualization &amp; Deployment</a:t>
            </a:r>
            <a:endParaRPr lang="en-US" sz="2200" dirty="0"/>
          </a:p>
        </p:txBody>
      </p:sp>
      <p:sp>
        <p:nvSpPr>
          <p:cNvPr id="7" name="Text 5"/>
          <p:cNvSpPr/>
          <p:nvPr/>
        </p:nvSpPr>
        <p:spPr>
          <a:xfrm>
            <a:off x="7599521" y="5498306"/>
            <a:ext cx="6244709" cy="1088708"/>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pitchFamily="34" charset="0"/>
                <a:ea typeface="Roboto" pitchFamily="34" charset="-122"/>
                <a:cs typeface="Roboto" pitchFamily="34" charset="-120"/>
              </a:rPr>
              <a:t>Streamlit or similar dashboards for interactive monitoring; Plotly/Matplotlib for time‑series visuals; deployable on cloud or local servers.</a:t>
            </a:r>
            <a:endParaRPr lang="en-US" sz="1750" dirty="0"/>
          </a:p>
        </p:txBody>
      </p:sp>
      <p:sp>
        <p:nvSpPr>
          <p:cNvPr id="8" name="Text 6"/>
          <p:cNvSpPr/>
          <p:nvPr/>
        </p:nvSpPr>
        <p:spPr>
          <a:xfrm>
            <a:off x="793790" y="7046238"/>
            <a:ext cx="13042821" cy="362903"/>
          </a:xfrm>
          <a:prstGeom prst="rect">
            <a:avLst/>
          </a:prstGeom>
          <a:noFill/>
          <a:ln/>
        </p:spPr>
        <p:txBody>
          <a:bodyPr wrap="none" lIns="0" tIns="0" rIns="0" bIns="0" rtlCol="0" anchor="t"/>
          <a:lstStyle/>
          <a:p>
            <a:pPr marL="0" indent="0" algn="r">
              <a:lnSpc>
                <a:spcPts val="2850"/>
              </a:lnSpc>
              <a:buNone/>
            </a:pPr>
            <a:r>
              <a:rPr lang="en-US" sz="1750" dirty="0">
                <a:solidFill>
                  <a:srgbClr val="E5E0DF"/>
                </a:solidFill>
                <a:latin typeface="Roboto" pitchFamily="34" charset="0"/>
                <a:ea typeface="Roboto" pitchFamily="34" charset="-122"/>
                <a:cs typeface="Roboto" pitchFamily="34" charset="-120"/>
              </a:rPr>
              <a:t>04</a:t>
            </a:r>
            <a:endParaRPr lang="en-US" sz="1750" dirty="0"/>
          </a:p>
        </p:txBody>
      </p:sp>
      <p:pic>
        <p:nvPicPr>
          <p:cNvPr id="10" name="Picture 9">
            <a:extLst>
              <a:ext uri="{FF2B5EF4-FFF2-40B4-BE49-F238E27FC236}">
                <a16:creationId xmlns:a16="http://schemas.microsoft.com/office/drawing/2014/main" id="{25A09DB7-90D5-4A6F-1AF6-9729387316A4}"/>
              </a:ext>
            </a:extLst>
          </p:cNvPr>
          <p:cNvPicPr>
            <a:picLocks noChangeAspect="1"/>
          </p:cNvPicPr>
          <p:nvPr/>
        </p:nvPicPr>
        <p:blipFill>
          <a:blip r:embed="rId3"/>
          <a:stretch>
            <a:fillRect/>
          </a:stretch>
        </p:blipFill>
        <p:spPr>
          <a:xfrm>
            <a:off x="144099" y="683137"/>
            <a:ext cx="619211" cy="62873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9386" y="820341"/>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FFFFFF"/>
                </a:solidFill>
                <a:latin typeface="Saira Medium" pitchFamily="34" charset="0"/>
                <a:ea typeface="Saira Medium" pitchFamily="34" charset="-122"/>
                <a:cs typeface="Saira Medium" pitchFamily="34" charset="-120"/>
              </a:rPr>
              <a:t>HACK KRMU 5.0</a:t>
            </a:r>
            <a:endParaRPr lang="en-US" sz="2200" dirty="0"/>
          </a:p>
        </p:txBody>
      </p:sp>
      <p:sp>
        <p:nvSpPr>
          <p:cNvPr id="3" name="Text 1"/>
          <p:cNvSpPr/>
          <p:nvPr/>
        </p:nvSpPr>
        <p:spPr>
          <a:xfrm>
            <a:off x="919043" y="1694736"/>
            <a:ext cx="12792313" cy="1417677"/>
          </a:xfrm>
          <a:prstGeom prst="rect">
            <a:avLst/>
          </a:prstGeom>
          <a:noFill/>
          <a:ln/>
        </p:spPr>
        <p:txBody>
          <a:bodyPr wrap="none" lIns="0" tIns="0" rIns="0" bIns="0" rtlCol="0" anchor="t"/>
          <a:lstStyle/>
          <a:p>
            <a:pPr marL="0" indent="0" algn="ctr">
              <a:lnSpc>
                <a:spcPts val="11150"/>
              </a:lnSpc>
              <a:buNone/>
            </a:pPr>
            <a:r>
              <a:rPr lang="en-US" sz="8900" dirty="0">
                <a:solidFill>
                  <a:srgbClr val="E5E0DF"/>
                </a:solidFill>
                <a:latin typeface="Saira Medium" pitchFamily="34" charset="0"/>
                <a:ea typeface="Saira Medium" pitchFamily="34" charset="-122"/>
                <a:cs typeface="Saira Medium" pitchFamily="34" charset="-120"/>
              </a:rPr>
              <a:t>MODELLING APPROACH</a:t>
            </a:r>
            <a:endParaRPr lang="en-US" sz="8900" dirty="0"/>
          </a:p>
        </p:txBody>
      </p:sp>
      <p:sp>
        <p:nvSpPr>
          <p:cNvPr id="4" name="Shape 2"/>
          <p:cNvSpPr/>
          <p:nvPr/>
        </p:nvSpPr>
        <p:spPr>
          <a:xfrm>
            <a:off x="793790" y="3452574"/>
            <a:ext cx="3090505" cy="3158609"/>
          </a:xfrm>
          <a:prstGeom prst="roundRect">
            <a:avLst>
              <a:gd name="adj" fmla="val 6606"/>
            </a:avLst>
          </a:prstGeom>
          <a:solidFill>
            <a:srgbClr val="030303"/>
          </a:solidFill>
          <a:ln w="22860">
            <a:solidFill>
              <a:srgbClr val="FC8337"/>
            </a:solidFill>
            <a:prstDash val="solid"/>
          </a:ln>
        </p:spPr>
        <p:txBody>
          <a:bodyPr/>
          <a:lstStyle/>
          <a:p>
            <a:endParaRPr lang="en-IN"/>
          </a:p>
        </p:txBody>
      </p:sp>
      <p:sp>
        <p:nvSpPr>
          <p:cNvPr id="5" name="Text 3"/>
          <p:cNvSpPr/>
          <p:nvPr/>
        </p:nvSpPr>
        <p:spPr>
          <a:xfrm>
            <a:off x="1043464" y="3702248"/>
            <a:ext cx="2591157" cy="708660"/>
          </a:xfrm>
          <a:prstGeom prst="rect">
            <a:avLst/>
          </a:prstGeom>
          <a:noFill/>
          <a:ln/>
        </p:spPr>
        <p:txBody>
          <a:bodyPr wrap="square" lIns="0" tIns="0" rIns="0" bIns="0" rtlCol="0" anchor="t"/>
          <a:lstStyle/>
          <a:p>
            <a:pPr marL="0" indent="0" algn="l">
              <a:lnSpc>
                <a:spcPts val="2750"/>
              </a:lnSpc>
              <a:buNone/>
            </a:pPr>
            <a:r>
              <a:rPr lang="en-US" sz="2200" dirty="0">
                <a:solidFill>
                  <a:srgbClr val="E5E0DF"/>
                </a:solidFill>
                <a:latin typeface="Saira Medium" pitchFamily="34" charset="0"/>
                <a:ea typeface="Saira Medium" pitchFamily="34" charset="-122"/>
                <a:cs typeface="Saira Medium" pitchFamily="34" charset="-120"/>
              </a:rPr>
              <a:t>Supervised classification</a:t>
            </a:r>
            <a:endParaRPr lang="en-US" sz="2200" dirty="0"/>
          </a:p>
        </p:txBody>
      </p:sp>
      <p:sp>
        <p:nvSpPr>
          <p:cNvPr id="6" name="Text 4"/>
          <p:cNvSpPr/>
          <p:nvPr/>
        </p:nvSpPr>
        <p:spPr>
          <a:xfrm>
            <a:off x="1043464" y="4546997"/>
            <a:ext cx="2591157" cy="1814513"/>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pitchFamily="34" charset="0"/>
                <a:ea typeface="Roboto" pitchFamily="34" charset="-122"/>
                <a:cs typeface="Roboto" pitchFamily="34" charset="-120"/>
              </a:rPr>
              <a:t>Train models to categorise near‑term outbreak risk rather than forecasting raw case counts.</a:t>
            </a:r>
            <a:endParaRPr lang="en-US" sz="1750" dirty="0"/>
          </a:p>
        </p:txBody>
      </p:sp>
      <p:sp>
        <p:nvSpPr>
          <p:cNvPr id="7" name="Shape 5"/>
          <p:cNvSpPr/>
          <p:nvPr/>
        </p:nvSpPr>
        <p:spPr>
          <a:xfrm>
            <a:off x="4111109" y="3452574"/>
            <a:ext cx="3090624" cy="3158609"/>
          </a:xfrm>
          <a:prstGeom prst="roundRect">
            <a:avLst>
              <a:gd name="adj" fmla="val 6605"/>
            </a:avLst>
          </a:prstGeom>
          <a:solidFill>
            <a:srgbClr val="030303"/>
          </a:solidFill>
          <a:ln w="22860">
            <a:solidFill>
              <a:srgbClr val="FC8337"/>
            </a:solidFill>
            <a:prstDash val="solid"/>
          </a:ln>
        </p:spPr>
        <p:txBody>
          <a:bodyPr/>
          <a:lstStyle/>
          <a:p>
            <a:endParaRPr lang="en-IN"/>
          </a:p>
        </p:txBody>
      </p:sp>
      <p:sp>
        <p:nvSpPr>
          <p:cNvPr id="8" name="Text 6"/>
          <p:cNvSpPr/>
          <p:nvPr/>
        </p:nvSpPr>
        <p:spPr>
          <a:xfrm>
            <a:off x="4360783" y="3702248"/>
            <a:ext cx="2591276"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Saira Medium" pitchFamily="34" charset="0"/>
                <a:ea typeface="Saira Medium" pitchFamily="34" charset="-122"/>
                <a:cs typeface="Saira Medium" pitchFamily="34" charset="-120"/>
              </a:rPr>
              <a:t>Algorithm choice</a:t>
            </a:r>
            <a:endParaRPr lang="en-US" sz="2200" dirty="0"/>
          </a:p>
        </p:txBody>
      </p:sp>
      <p:sp>
        <p:nvSpPr>
          <p:cNvPr id="9" name="Text 7"/>
          <p:cNvSpPr/>
          <p:nvPr/>
        </p:nvSpPr>
        <p:spPr>
          <a:xfrm>
            <a:off x="4360783" y="4192667"/>
            <a:ext cx="2591276" cy="1451610"/>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pitchFamily="34" charset="0"/>
                <a:ea typeface="Roboto" pitchFamily="34" charset="-122"/>
                <a:cs typeface="Roboto" pitchFamily="34" charset="-120"/>
              </a:rPr>
              <a:t>Random Forest for robustness to noisy data, interpretability and low compute cost.</a:t>
            </a:r>
            <a:endParaRPr lang="en-US" sz="1750" dirty="0"/>
          </a:p>
        </p:txBody>
      </p:sp>
      <p:sp>
        <p:nvSpPr>
          <p:cNvPr id="10" name="Shape 8"/>
          <p:cNvSpPr/>
          <p:nvPr/>
        </p:nvSpPr>
        <p:spPr>
          <a:xfrm>
            <a:off x="7428548" y="3452574"/>
            <a:ext cx="3090624" cy="3158609"/>
          </a:xfrm>
          <a:prstGeom prst="roundRect">
            <a:avLst>
              <a:gd name="adj" fmla="val 6605"/>
            </a:avLst>
          </a:prstGeom>
          <a:solidFill>
            <a:srgbClr val="030303"/>
          </a:solidFill>
          <a:ln w="22860">
            <a:solidFill>
              <a:srgbClr val="FC8337"/>
            </a:solidFill>
            <a:prstDash val="solid"/>
          </a:ln>
        </p:spPr>
        <p:txBody>
          <a:bodyPr/>
          <a:lstStyle/>
          <a:p>
            <a:endParaRPr lang="en-IN"/>
          </a:p>
        </p:txBody>
      </p:sp>
      <p:sp>
        <p:nvSpPr>
          <p:cNvPr id="11" name="Text 9"/>
          <p:cNvSpPr/>
          <p:nvPr/>
        </p:nvSpPr>
        <p:spPr>
          <a:xfrm>
            <a:off x="7678222" y="3702248"/>
            <a:ext cx="2591276"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Saira Medium" pitchFamily="34" charset="0"/>
                <a:ea typeface="Saira Medium" pitchFamily="34" charset="-122"/>
                <a:cs typeface="Saira Medium" pitchFamily="34" charset="-120"/>
              </a:rPr>
              <a:t>Feature strategy</a:t>
            </a:r>
            <a:endParaRPr lang="en-US" sz="2200" dirty="0"/>
          </a:p>
        </p:txBody>
      </p:sp>
      <p:sp>
        <p:nvSpPr>
          <p:cNvPr id="12" name="Text 10"/>
          <p:cNvSpPr/>
          <p:nvPr/>
        </p:nvSpPr>
        <p:spPr>
          <a:xfrm>
            <a:off x="7678222" y="4192667"/>
            <a:ext cx="2591276" cy="1814513"/>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pitchFamily="34" charset="0"/>
                <a:ea typeface="Roboto" pitchFamily="34" charset="-122"/>
                <a:cs typeface="Roboto" pitchFamily="34" charset="-120"/>
              </a:rPr>
              <a:t>Lag features, moving averages, contamination spike flags and contextual metadata (season, location type).</a:t>
            </a:r>
            <a:endParaRPr lang="en-US" sz="1750" dirty="0"/>
          </a:p>
        </p:txBody>
      </p:sp>
      <p:sp>
        <p:nvSpPr>
          <p:cNvPr id="13" name="Shape 11"/>
          <p:cNvSpPr/>
          <p:nvPr/>
        </p:nvSpPr>
        <p:spPr>
          <a:xfrm>
            <a:off x="10745986" y="3452574"/>
            <a:ext cx="3090624" cy="3158609"/>
          </a:xfrm>
          <a:prstGeom prst="roundRect">
            <a:avLst>
              <a:gd name="adj" fmla="val 6605"/>
            </a:avLst>
          </a:prstGeom>
          <a:solidFill>
            <a:srgbClr val="030303"/>
          </a:solidFill>
          <a:ln w="22860">
            <a:solidFill>
              <a:srgbClr val="FC8337"/>
            </a:solidFill>
            <a:prstDash val="solid"/>
          </a:ln>
        </p:spPr>
        <p:txBody>
          <a:bodyPr/>
          <a:lstStyle/>
          <a:p>
            <a:endParaRPr lang="en-IN"/>
          </a:p>
        </p:txBody>
      </p:sp>
      <p:sp>
        <p:nvSpPr>
          <p:cNvPr id="14" name="Text 12"/>
          <p:cNvSpPr/>
          <p:nvPr/>
        </p:nvSpPr>
        <p:spPr>
          <a:xfrm>
            <a:off x="10995660" y="3702248"/>
            <a:ext cx="2591276"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Saira Medium" pitchFamily="34" charset="0"/>
                <a:ea typeface="Saira Medium" pitchFamily="34" charset="-122"/>
                <a:cs typeface="Saira Medium" pitchFamily="34" charset="-120"/>
              </a:rPr>
              <a:t>Risk output</a:t>
            </a:r>
            <a:endParaRPr lang="en-US" sz="2200" dirty="0"/>
          </a:p>
        </p:txBody>
      </p:sp>
      <p:sp>
        <p:nvSpPr>
          <p:cNvPr id="15" name="Text 13"/>
          <p:cNvSpPr/>
          <p:nvPr/>
        </p:nvSpPr>
        <p:spPr>
          <a:xfrm>
            <a:off x="10995660" y="4192667"/>
            <a:ext cx="2591276" cy="1451610"/>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pitchFamily="34" charset="0"/>
                <a:ea typeface="Roboto" pitchFamily="34" charset="-122"/>
                <a:cs typeface="Roboto" pitchFamily="34" charset="-120"/>
              </a:rPr>
              <a:t>Discrete labels: Low, Medium, High, Critical — matched to operational response tiers.</a:t>
            </a:r>
            <a:endParaRPr lang="en-US" sz="1750" dirty="0"/>
          </a:p>
        </p:txBody>
      </p:sp>
      <p:sp>
        <p:nvSpPr>
          <p:cNvPr id="16" name="Text 14"/>
          <p:cNvSpPr/>
          <p:nvPr/>
        </p:nvSpPr>
        <p:spPr>
          <a:xfrm>
            <a:off x="793790" y="6866334"/>
            <a:ext cx="13042821" cy="362903"/>
          </a:xfrm>
          <a:prstGeom prst="rect">
            <a:avLst/>
          </a:prstGeom>
          <a:noFill/>
          <a:ln/>
        </p:spPr>
        <p:txBody>
          <a:bodyPr wrap="none" lIns="0" tIns="0" rIns="0" bIns="0" rtlCol="0" anchor="t"/>
          <a:lstStyle/>
          <a:p>
            <a:pPr marL="0" indent="0" algn="r">
              <a:lnSpc>
                <a:spcPts val="2850"/>
              </a:lnSpc>
              <a:buNone/>
            </a:pPr>
            <a:r>
              <a:rPr lang="en-US" sz="1750" dirty="0">
                <a:solidFill>
                  <a:srgbClr val="E5E0DF"/>
                </a:solidFill>
                <a:latin typeface="Roboto" pitchFamily="34" charset="0"/>
                <a:ea typeface="Roboto" pitchFamily="34" charset="-122"/>
                <a:cs typeface="Roboto" pitchFamily="34" charset="-120"/>
              </a:rPr>
              <a:t>05</a:t>
            </a:r>
            <a:endParaRPr lang="en-US" sz="1750" dirty="0"/>
          </a:p>
        </p:txBody>
      </p:sp>
      <p:pic>
        <p:nvPicPr>
          <p:cNvPr id="19" name="Picture 18">
            <a:extLst>
              <a:ext uri="{FF2B5EF4-FFF2-40B4-BE49-F238E27FC236}">
                <a16:creationId xmlns:a16="http://schemas.microsoft.com/office/drawing/2014/main" id="{51BADF20-3058-6FEE-8BAA-0103793517A9}"/>
              </a:ext>
            </a:extLst>
          </p:cNvPr>
          <p:cNvPicPr>
            <a:picLocks noChangeAspect="1"/>
          </p:cNvPicPr>
          <p:nvPr/>
        </p:nvPicPr>
        <p:blipFill>
          <a:blip r:embed="rId3"/>
          <a:stretch>
            <a:fillRect/>
          </a:stretch>
        </p:blipFill>
        <p:spPr>
          <a:xfrm>
            <a:off x="144099" y="683137"/>
            <a:ext cx="619211" cy="62873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83153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FFFFFF"/>
                </a:solidFill>
                <a:latin typeface="Saira Medium" pitchFamily="34" charset="0"/>
                <a:ea typeface="Saira Medium" pitchFamily="34" charset="-122"/>
                <a:cs typeface="Saira Medium" pitchFamily="34" charset="-120"/>
              </a:rPr>
              <a:t>HACK KRMU 5.0</a:t>
            </a:r>
            <a:endParaRPr lang="en-US" sz="2200" dirty="0"/>
          </a:p>
        </p:txBody>
      </p:sp>
      <p:sp>
        <p:nvSpPr>
          <p:cNvPr id="3" name="Text 1"/>
          <p:cNvSpPr/>
          <p:nvPr/>
        </p:nvSpPr>
        <p:spPr>
          <a:xfrm>
            <a:off x="793790" y="1526024"/>
            <a:ext cx="13042821" cy="2835354"/>
          </a:xfrm>
          <a:prstGeom prst="rect">
            <a:avLst/>
          </a:prstGeom>
          <a:noFill/>
          <a:ln/>
        </p:spPr>
        <p:txBody>
          <a:bodyPr wrap="square" lIns="0" tIns="0" rIns="0" bIns="0" rtlCol="0" anchor="t"/>
          <a:lstStyle/>
          <a:p>
            <a:pPr marL="0" indent="0" algn="ctr">
              <a:lnSpc>
                <a:spcPts val="11150"/>
              </a:lnSpc>
              <a:buNone/>
            </a:pPr>
            <a:r>
              <a:rPr lang="en-US" sz="8900" dirty="0">
                <a:solidFill>
                  <a:srgbClr val="E5E0DF"/>
                </a:solidFill>
                <a:latin typeface="Saira Medium" pitchFamily="34" charset="0"/>
                <a:ea typeface="Saira Medium" pitchFamily="34" charset="-122"/>
                <a:cs typeface="Saira Medium" pitchFamily="34" charset="-120"/>
              </a:rPr>
              <a:t>UNIQUENESS &amp; INNOVATION FACTOR</a:t>
            </a:r>
            <a:endParaRPr lang="en-US" sz="8900" dirty="0"/>
          </a:p>
        </p:txBody>
      </p:sp>
      <p:sp>
        <p:nvSpPr>
          <p:cNvPr id="4" name="Shape 2"/>
          <p:cNvSpPr/>
          <p:nvPr/>
        </p:nvSpPr>
        <p:spPr>
          <a:xfrm>
            <a:off x="793790" y="4701540"/>
            <a:ext cx="4196358" cy="2078474"/>
          </a:xfrm>
          <a:prstGeom prst="roundRect">
            <a:avLst>
              <a:gd name="adj" fmla="val 9822"/>
            </a:avLst>
          </a:prstGeom>
          <a:solidFill>
            <a:srgbClr val="030303"/>
          </a:solidFill>
          <a:ln w="22860">
            <a:solidFill>
              <a:srgbClr val="FC8337"/>
            </a:solidFill>
            <a:prstDash val="solid"/>
          </a:ln>
        </p:spPr>
        <p:txBody>
          <a:bodyPr/>
          <a:lstStyle/>
          <a:p>
            <a:endParaRPr lang="en-IN"/>
          </a:p>
        </p:txBody>
      </p:sp>
      <p:sp>
        <p:nvSpPr>
          <p:cNvPr id="5" name="Text 3"/>
          <p:cNvSpPr/>
          <p:nvPr/>
        </p:nvSpPr>
        <p:spPr>
          <a:xfrm>
            <a:off x="1043464" y="4951214"/>
            <a:ext cx="3102054"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Saira Medium" pitchFamily="34" charset="0"/>
                <a:ea typeface="Saira Medium" pitchFamily="34" charset="-122"/>
                <a:cs typeface="Saira Medium" pitchFamily="34" charset="-120"/>
              </a:rPr>
              <a:t>Cause‑driven prediction</a:t>
            </a:r>
            <a:endParaRPr lang="en-US" sz="2200" dirty="0"/>
          </a:p>
        </p:txBody>
      </p:sp>
      <p:sp>
        <p:nvSpPr>
          <p:cNvPr id="6" name="Text 4"/>
          <p:cNvSpPr/>
          <p:nvPr/>
        </p:nvSpPr>
        <p:spPr>
          <a:xfrm>
            <a:off x="1043464" y="5441633"/>
            <a:ext cx="3697010" cy="1088708"/>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pitchFamily="34" charset="0"/>
                <a:ea typeface="Roboto" pitchFamily="34" charset="-122"/>
                <a:cs typeface="Roboto" pitchFamily="34" charset="-120"/>
              </a:rPr>
              <a:t>Uses contamination signals as an early warning rather than relying solely on clinical case spikes.</a:t>
            </a:r>
            <a:endParaRPr lang="en-US" sz="1750" dirty="0"/>
          </a:p>
        </p:txBody>
      </p:sp>
      <p:sp>
        <p:nvSpPr>
          <p:cNvPr id="7" name="Shape 5"/>
          <p:cNvSpPr/>
          <p:nvPr/>
        </p:nvSpPr>
        <p:spPr>
          <a:xfrm>
            <a:off x="5216962" y="4701540"/>
            <a:ext cx="4196358" cy="2078474"/>
          </a:xfrm>
          <a:prstGeom prst="roundRect">
            <a:avLst>
              <a:gd name="adj" fmla="val 9822"/>
            </a:avLst>
          </a:prstGeom>
          <a:solidFill>
            <a:srgbClr val="030303"/>
          </a:solidFill>
          <a:ln w="22860">
            <a:solidFill>
              <a:srgbClr val="FC8337"/>
            </a:solidFill>
            <a:prstDash val="solid"/>
          </a:ln>
        </p:spPr>
        <p:txBody>
          <a:bodyPr/>
          <a:lstStyle/>
          <a:p>
            <a:endParaRPr lang="en-IN"/>
          </a:p>
        </p:txBody>
      </p:sp>
      <p:sp>
        <p:nvSpPr>
          <p:cNvPr id="8" name="Text 6"/>
          <p:cNvSpPr/>
          <p:nvPr/>
        </p:nvSpPr>
        <p:spPr>
          <a:xfrm>
            <a:off x="5466636" y="4951214"/>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Saira Medium" pitchFamily="34" charset="0"/>
                <a:ea typeface="Saira Medium" pitchFamily="34" charset="-122"/>
                <a:cs typeface="Saira Medium" pitchFamily="34" charset="-120"/>
              </a:rPr>
              <a:t>Lag pattern learning</a:t>
            </a:r>
            <a:endParaRPr lang="en-US" sz="2200" dirty="0"/>
          </a:p>
        </p:txBody>
      </p:sp>
      <p:sp>
        <p:nvSpPr>
          <p:cNvPr id="9" name="Text 7"/>
          <p:cNvSpPr/>
          <p:nvPr/>
        </p:nvSpPr>
        <p:spPr>
          <a:xfrm>
            <a:off x="5466636" y="5441633"/>
            <a:ext cx="3697010" cy="1088708"/>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pitchFamily="34" charset="0"/>
                <a:ea typeface="Roboto" pitchFamily="34" charset="-122"/>
                <a:cs typeface="Roboto" pitchFamily="34" charset="-120"/>
              </a:rPr>
              <a:t>Explicitly models delays so alerts align with biological and reporting realities.</a:t>
            </a:r>
            <a:endParaRPr lang="en-US" sz="1750" dirty="0"/>
          </a:p>
        </p:txBody>
      </p:sp>
      <p:sp>
        <p:nvSpPr>
          <p:cNvPr id="10" name="Shape 8"/>
          <p:cNvSpPr/>
          <p:nvPr/>
        </p:nvSpPr>
        <p:spPr>
          <a:xfrm>
            <a:off x="9640133" y="4701540"/>
            <a:ext cx="4196358" cy="2078474"/>
          </a:xfrm>
          <a:prstGeom prst="roundRect">
            <a:avLst>
              <a:gd name="adj" fmla="val 9822"/>
            </a:avLst>
          </a:prstGeom>
          <a:solidFill>
            <a:srgbClr val="030303"/>
          </a:solidFill>
          <a:ln w="22860">
            <a:solidFill>
              <a:srgbClr val="FC8337"/>
            </a:solidFill>
            <a:prstDash val="solid"/>
          </a:ln>
        </p:spPr>
        <p:txBody>
          <a:bodyPr/>
          <a:lstStyle/>
          <a:p>
            <a:endParaRPr lang="en-IN"/>
          </a:p>
        </p:txBody>
      </p:sp>
      <p:sp>
        <p:nvSpPr>
          <p:cNvPr id="11" name="Text 9"/>
          <p:cNvSpPr/>
          <p:nvPr/>
        </p:nvSpPr>
        <p:spPr>
          <a:xfrm>
            <a:off x="9889808" y="4951214"/>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Saira Medium" pitchFamily="34" charset="0"/>
                <a:ea typeface="Saira Medium" pitchFamily="34" charset="-122"/>
                <a:cs typeface="Saira Medium" pitchFamily="34" charset="-120"/>
              </a:rPr>
              <a:t>Scalable integration</a:t>
            </a:r>
            <a:endParaRPr lang="en-US" sz="2200" dirty="0"/>
          </a:p>
        </p:txBody>
      </p:sp>
      <p:sp>
        <p:nvSpPr>
          <p:cNvPr id="12" name="Text 10"/>
          <p:cNvSpPr/>
          <p:nvPr/>
        </p:nvSpPr>
        <p:spPr>
          <a:xfrm>
            <a:off x="9889808" y="5441633"/>
            <a:ext cx="3697010" cy="1088708"/>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pitchFamily="34" charset="0"/>
                <a:ea typeface="Roboto" pitchFamily="34" charset="-122"/>
                <a:cs typeface="Roboto" pitchFamily="34" charset="-120"/>
              </a:rPr>
              <a:t>Designed to ingest IoT sensors and public dashboards for city‑to‑state deployment.</a:t>
            </a:r>
            <a:endParaRPr lang="en-US" sz="1750" dirty="0"/>
          </a:p>
        </p:txBody>
      </p:sp>
      <p:sp>
        <p:nvSpPr>
          <p:cNvPr id="13" name="Text 11"/>
          <p:cNvSpPr/>
          <p:nvPr/>
        </p:nvSpPr>
        <p:spPr>
          <a:xfrm>
            <a:off x="793790" y="7035165"/>
            <a:ext cx="13042821" cy="362903"/>
          </a:xfrm>
          <a:prstGeom prst="rect">
            <a:avLst/>
          </a:prstGeom>
          <a:noFill/>
          <a:ln/>
        </p:spPr>
        <p:txBody>
          <a:bodyPr wrap="none" lIns="0" tIns="0" rIns="0" bIns="0" rtlCol="0" anchor="t"/>
          <a:lstStyle/>
          <a:p>
            <a:pPr marL="0" indent="0" algn="r">
              <a:lnSpc>
                <a:spcPts val="2850"/>
              </a:lnSpc>
              <a:buNone/>
            </a:pPr>
            <a:r>
              <a:rPr lang="en-US" sz="1750" dirty="0">
                <a:solidFill>
                  <a:srgbClr val="E5E0DF"/>
                </a:solidFill>
                <a:latin typeface="Roboto" pitchFamily="34" charset="0"/>
                <a:ea typeface="Roboto" pitchFamily="34" charset="-122"/>
                <a:cs typeface="Roboto" pitchFamily="34" charset="-120"/>
              </a:rPr>
              <a:t>05</a:t>
            </a:r>
            <a:endParaRPr lang="en-US" sz="1750" dirty="0"/>
          </a:p>
        </p:txBody>
      </p:sp>
      <p:pic>
        <p:nvPicPr>
          <p:cNvPr id="15" name="Picture 14">
            <a:extLst>
              <a:ext uri="{FF2B5EF4-FFF2-40B4-BE49-F238E27FC236}">
                <a16:creationId xmlns:a16="http://schemas.microsoft.com/office/drawing/2014/main" id="{96B8A15B-FDC2-BC16-1919-20B0611E5731}"/>
              </a:ext>
            </a:extLst>
          </p:cNvPr>
          <p:cNvPicPr>
            <a:picLocks noChangeAspect="1"/>
          </p:cNvPicPr>
          <p:nvPr/>
        </p:nvPicPr>
        <p:blipFill>
          <a:blip r:embed="rId3"/>
          <a:stretch>
            <a:fillRect/>
          </a:stretch>
        </p:blipFill>
        <p:spPr>
          <a:xfrm>
            <a:off x="0" y="694328"/>
            <a:ext cx="619211" cy="62873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44140" y="885924"/>
            <a:ext cx="2081689" cy="260152"/>
          </a:xfrm>
          <a:prstGeom prst="rect">
            <a:avLst/>
          </a:prstGeom>
          <a:noFill/>
          <a:ln/>
        </p:spPr>
        <p:txBody>
          <a:bodyPr wrap="none" lIns="0" tIns="0" rIns="0" bIns="0" rtlCol="0" anchor="t"/>
          <a:lstStyle/>
          <a:p>
            <a:pPr marL="0" indent="0" algn="l">
              <a:lnSpc>
                <a:spcPts val="2000"/>
              </a:lnSpc>
              <a:buNone/>
            </a:pPr>
            <a:r>
              <a:rPr lang="en-US" sz="1600" dirty="0">
                <a:solidFill>
                  <a:srgbClr val="FFFFFF"/>
                </a:solidFill>
                <a:latin typeface="Saira Medium" pitchFamily="34" charset="0"/>
                <a:ea typeface="Saira Medium" pitchFamily="34" charset="-122"/>
                <a:cs typeface="Saira Medium" pitchFamily="34" charset="-120"/>
              </a:rPr>
              <a:t>HACK KRMU 5.0</a:t>
            </a:r>
            <a:endParaRPr lang="en-US" sz="1600" dirty="0"/>
          </a:p>
        </p:txBody>
      </p:sp>
      <p:sp>
        <p:nvSpPr>
          <p:cNvPr id="3" name="Text 1"/>
          <p:cNvSpPr/>
          <p:nvPr/>
        </p:nvSpPr>
        <p:spPr>
          <a:xfrm>
            <a:off x="1784985" y="1973818"/>
            <a:ext cx="11060311" cy="1040844"/>
          </a:xfrm>
          <a:prstGeom prst="rect">
            <a:avLst/>
          </a:prstGeom>
          <a:noFill/>
          <a:ln/>
        </p:spPr>
        <p:txBody>
          <a:bodyPr wrap="none" lIns="0" tIns="0" rIns="0" bIns="0" rtlCol="0" anchor="t"/>
          <a:lstStyle/>
          <a:p>
            <a:pPr marL="0" indent="0" algn="ctr">
              <a:lnSpc>
                <a:spcPts val="8150"/>
              </a:lnSpc>
              <a:buNone/>
            </a:pPr>
            <a:r>
              <a:rPr lang="en-US" sz="6550" dirty="0">
                <a:solidFill>
                  <a:srgbClr val="E5E0DF"/>
                </a:solidFill>
                <a:latin typeface="Saira Medium" pitchFamily="34" charset="0"/>
                <a:ea typeface="Saira Medium" pitchFamily="34" charset="-122"/>
                <a:cs typeface="Saira Medium" pitchFamily="34" charset="-120"/>
              </a:rPr>
              <a:t>FEASIBILITY &amp; CHALLENGES</a:t>
            </a:r>
            <a:endParaRPr lang="en-US" sz="6550" dirty="0"/>
          </a:p>
        </p:txBody>
      </p:sp>
      <p:sp>
        <p:nvSpPr>
          <p:cNvPr id="4" name="Shape 2"/>
          <p:cNvSpPr/>
          <p:nvPr/>
        </p:nvSpPr>
        <p:spPr>
          <a:xfrm>
            <a:off x="1569720" y="3198019"/>
            <a:ext cx="2781062" cy="1620798"/>
          </a:xfrm>
          <a:prstGeom prst="roundRect">
            <a:avLst>
              <a:gd name="adj" fmla="val 9247"/>
            </a:avLst>
          </a:prstGeom>
          <a:solidFill>
            <a:srgbClr val="030303"/>
          </a:solidFill>
          <a:ln w="15240">
            <a:solidFill>
              <a:srgbClr val="FC8337"/>
            </a:solidFill>
            <a:prstDash val="solid"/>
          </a:ln>
        </p:spPr>
        <p:txBody>
          <a:bodyPr/>
          <a:lstStyle/>
          <a:p>
            <a:endParaRPr lang="en-IN"/>
          </a:p>
        </p:txBody>
      </p:sp>
      <p:sp>
        <p:nvSpPr>
          <p:cNvPr id="5" name="Text 3"/>
          <p:cNvSpPr/>
          <p:nvPr/>
        </p:nvSpPr>
        <p:spPr>
          <a:xfrm>
            <a:off x="1751409" y="3379708"/>
            <a:ext cx="2081689" cy="260152"/>
          </a:xfrm>
          <a:prstGeom prst="rect">
            <a:avLst/>
          </a:prstGeom>
          <a:noFill/>
          <a:ln/>
        </p:spPr>
        <p:txBody>
          <a:bodyPr wrap="none" lIns="0" tIns="0" rIns="0" bIns="0" rtlCol="0" anchor="t"/>
          <a:lstStyle/>
          <a:p>
            <a:pPr marL="0" indent="0" algn="l">
              <a:lnSpc>
                <a:spcPts val="2000"/>
              </a:lnSpc>
              <a:buNone/>
            </a:pPr>
            <a:r>
              <a:rPr lang="en-US" sz="1600" dirty="0">
                <a:solidFill>
                  <a:srgbClr val="E5E0DF"/>
                </a:solidFill>
                <a:latin typeface="Saira Medium" pitchFamily="34" charset="0"/>
                <a:ea typeface="Saira Medium" pitchFamily="34" charset="-122"/>
                <a:cs typeface="Saira Medium" pitchFamily="34" charset="-120"/>
              </a:rPr>
              <a:t>Operational fit</a:t>
            </a:r>
            <a:endParaRPr lang="en-US" sz="1600" dirty="0"/>
          </a:p>
        </p:txBody>
      </p:sp>
      <p:sp>
        <p:nvSpPr>
          <p:cNvPr id="6" name="Text 4"/>
          <p:cNvSpPr/>
          <p:nvPr/>
        </p:nvSpPr>
        <p:spPr>
          <a:xfrm>
            <a:off x="1751409" y="3713202"/>
            <a:ext cx="2417683" cy="923925"/>
          </a:xfrm>
          <a:prstGeom prst="rect">
            <a:avLst/>
          </a:prstGeom>
          <a:noFill/>
          <a:ln/>
        </p:spPr>
        <p:txBody>
          <a:bodyPr wrap="square" lIns="0" tIns="0" rIns="0" bIns="0" rtlCol="0" anchor="t"/>
          <a:lstStyle/>
          <a:p>
            <a:pPr marL="0" indent="0" algn="l">
              <a:lnSpc>
                <a:spcPts val="1800"/>
              </a:lnSpc>
              <a:buNone/>
            </a:pPr>
            <a:r>
              <a:rPr lang="en-US" sz="1300" dirty="0">
                <a:solidFill>
                  <a:srgbClr val="E5E0DF"/>
                </a:solidFill>
                <a:latin typeface="Roboto" pitchFamily="34" charset="0"/>
                <a:ea typeface="Roboto" pitchFamily="34" charset="-122"/>
                <a:cs typeface="Roboto" pitchFamily="34" charset="-120"/>
              </a:rPr>
              <a:t>Low computational needs; compatible with periodic retraining and scheduled inference.</a:t>
            </a:r>
            <a:endParaRPr lang="en-US" sz="1300" dirty="0"/>
          </a:p>
        </p:txBody>
      </p:sp>
      <p:sp>
        <p:nvSpPr>
          <p:cNvPr id="7" name="Shape 5"/>
          <p:cNvSpPr/>
          <p:nvPr/>
        </p:nvSpPr>
        <p:spPr>
          <a:xfrm>
            <a:off x="4472940" y="3198019"/>
            <a:ext cx="2781181" cy="1620798"/>
          </a:xfrm>
          <a:prstGeom prst="roundRect">
            <a:avLst>
              <a:gd name="adj" fmla="val 9247"/>
            </a:avLst>
          </a:prstGeom>
          <a:solidFill>
            <a:srgbClr val="030303"/>
          </a:solidFill>
          <a:ln w="15240">
            <a:solidFill>
              <a:srgbClr val="FC8337"/>
            </a:solidFill>
            <a:prstDash val="solid"/>
          </a:ln>
        </p:spPr>
        <p:txBody>
          <a:bodyPr/>
          <a:lstStyle/>
          <a:p>
            <a:endParaRPr lang="en-IN"/>
          </a:p>
        </p:txBody>
      </p:sp>
      <p:sp>
        <p:nvSpPr>
          <p:cNvPr id="8" name="Text 6"/>
          <p:cNvSpPr/>
          <p:nvPr/>
        </p:nvSpPr>
        <p:spPr>
          <a:xfrm>
            <a:off x="4654629" y="3379708"/>
            <a:ext cx="2081689" cy="260152"/>
          </a:xfrm>
          <a:prstGeom prst="rect">
            <a:avLst/>
          </a:prstGeom>
          <a:noFill/>
          <a:ln/>
        </p:spPr>
        <p:txBody>
          <a:bodyPr wrap="none" lIns="0" tIns="0" rIns="0" bIns="0" rtlCol="0" anchor="t"/>
          <a:lstStyle/>
          <a:p>
            <a:pPr marL="0" indent="0" algn="l">
              <a:lnSpc>
                <a:spcPts val="2000"/>
              </a:lnSpc>
              <a:buNone/>
            </a:pPr>
            <a:r>
              <a:rPr lang="en-US" sz="1600" dirty="0">
                <a:solidFill>
                  <a:srgbClr val="E5E0DF"/>
                </a:solidFill>
                <a:latin typeface="Saira Medium" pitchFamily="34" charset="0"/>
                <a:ea typeface="Saira Medium" pitchFamily="34" charset="-122"/>
                <a:cs typeface="Saira Medium" pitchFamily="34" charset="-120"/>
              </a:rPr>
              <a:t>Data requirements</a:t>
            </a:r>
            <a:endParaRPr lang="en-US" sz="1600" dirty="0"/>
          </a:p>
        </p:txBody>
      </p:sp>
      <p:sp>
        <p:nvSpPr>
          <p:cNvPr id="9" name="Text 7"/>
          <p:cNvSpPr/>
          <p:nvPr/>
        </p:nvSpPr>
        <p:spPr>
          <a:xfrm>
            <a:off x="4654629" y="3713202"/>
            <a:ext cx="2417802" cy="923925"/>
          </a:xfrm>
          <a:prstGeom prst="rect">
            <a:avLst/>
          </a:prstGeom>
          <a:noFill/>
          <a:ln/>
        </p:spPr>
        <p:txBody>
          <a:bodyPr wrap="square" lIns="0" tIns="0" rIns="0" bIns="0" rtlCol="0" anchor="t"/>
          <a:lstStyle/>
          <a:p>
            <a:pPr marL="0" indent="0" algn="l">
              <a:lnSpc>
                <a:spcPts val="1800"/>
              </a:lnSpc>
              <a:buNone/>
            </a:pPr>
            <a:r>
              <a:rPr lang="en-US" sz="1300" dirty="0">
                <a:solidFill>
                  <a:srgbClr val="E5E0DF"/>
                </a:solidFill>
                <a:latin typeface="Roboto" pitchFamily="34" charset="0"/>
                <a:ea typeface="Roboto" pitchFamily="34" charset="-122"/>
                <a:cs typeface="Roboto" pitchFamily="34" charset="-120"/>
              </a:rPr>
              <a:t>Structured CSV/time‑series inputs with location and date; enrichment with simple geospatial mapping.</a:t>
            </a:r>
            <a:endParaRPr lang="en-US" sz="1300" dirty="0"/>
          </a:p>
        </p:txBody>
      </p:sp>
      <p:sp>
        <p:nvSpPr>
          <p:cNvPr id="10" name="Shape 8"/>
          <p:cNvSpPr/>
          <p:nvPr/>
        </p:nvSpPr>
        <p:spPr>
          <a:xfrm>
            <a:off x="7376279" y="3198019"/>
            <a:ext cx="2781062" cy="1620798"/>
          </a:xfrm>
          <a:prstGeom prst="roundRect">
            <a:avLst>
              <a:gd name="adj" fmla="val 9247"/>
            </a:avLst>
          </a:prstGeom>
          <a:solidFill>
            <a:srgbClr val="030303"/>
          </a:solidFill>
          <a:ln w="15240">
            <a:solidFill>
              <a:srgbClr val="FC8337"/>
            </a:solidFill>
            <a:prstDash val="solid"/>
          </a:ln>
        </p:spPr>
        <p:txBody>
          <a:bodyPr/>
          <a:lstStyle/>
          <a:p>
            <a:endParaRPr lang="en-IN"/>
          </a:p>
        </p:txBody>
      </p:sp>
      <p:sp>
        <p:nvSpPr>
          <p:cNvPr id="11" name="Text 9"/>
          <p:cNvSpPr/>
          <p:nvPr/>
        </p:nvSpPr>
        <p:spPr>
          <a:xfrm>
            <a:off x="7557968" y="3379708"/>
            <a:ext cx="2081689" cy="260152"/>
          </a:xfrm>
          <a:prstGeom prst="rect">
            <a:avLst/>
          </a:prstGeom>
          <a:noFill/>
          <a:ln/>
        </p:spPr>
        <p:txBody>
          <a:bodyPr wrap="none" lIns="0" tIns="0" rIns="0" bIns="0" rtlCol="0" anchor="t"/>
          <a:lstStyle/>
          <a:p>
            <a:pPr marL="0" indent="0" algn="l">
              <a:lnSpc>
                <a:spcPts val="2000"/>
              </a:lnSpc>
              <a:buNone/>
            </a:pPr>
            <a:r>
              <a:rPr lang="en-US" sz="1600" dirty="0">
                <a:solidFill>
                  <a:srgbClr val="E5E0DF"/>
                </a:solidFill>
                <a:latin typeface="Saira Medium" pitchFamily="34" charset="0"/>
                <a:ea typeface="Saira Medium" pitchFamily="34" charset="-122"/>
                <a:cs typeface="Saira Medium" pitchFamily="34" charset="-120"/>
              </a:rPr>
              <a:t>Deployment</a:t>
            </a:r>
            <a:endParaRPr lang="en-US" sz="1600" dirty="0"/>
          </a:p>
        </p:txBody>
      </p:sp>
      <p:sp>
        <p:nvSpPr>
          <p:cNvPr id="12" name="Text 10"/>
          <p:cNvSpPr/>
          <p:nvPr/>
        </p:nvSpPr>
        <p:spPr>
          <a:xfrm>
            <a:off x="7557968" y="3713202"/>
            <a:ext cx="2417683" cy="923925"/>
          </a:xfrm>
          <a:prstGeom prst="rect">
            <a:avLst/>
          </a:prstGeom>
          <a:noFill/>
          <a:ln/>
        </p:spPr>
        <p:txBody>
          <a:bodyPr wrap="square" lIns="0" tIns="0" rIns="0" bIns="0" rtlCol="0" anchor="t"/>
          <a:lstStyle/>
          <a:p>
            <a:pPr marL="0" indent="0" algn="l">
              <a:lnSpc>
                <a:spcPts val="1800"/>
              </a:lnSpc>
              <a:buNone/>
            </a:pPr>
            <a:r>
              <a:rPr lang="en-US" sz="1300" dirty="0">
                <a:solidFill>
                  <a:srgbClr val="E5E0DF"/>
                </a:solidFill>
                <a:latin typeface="Roboto" pitchFamily="34" charset="0"/>
                <a:ea typeface="Roboto" pitchFamily="34" charset="-122"/>
                <a:cs typeface="Roboto" pitchFamily="34" charset="-120"/>
              </a:rPr>
              <a:t>Cloud or on‑premise depending on data governance; containerised services for portability.</a:t>
            </a:r>
            <a:endParaRPr lang="en-US" sz="1300" dirty="0"/>
          </a:p>
        </p:txBody>
      </p:sp>
      <p:sp>
        <p:nvSpPr>
          <p:cNvPr id="13" name="Shape 11"/>
          <p:cNvSpPr/>
          <p:nvPr/>
        </p:nvSpPr>
        <p:spPr>
          <a:xfrm>
            <a:off x="10279499" y="3198019"/>
            <a:ext cx="2781181" cy="1620798"/>
          </a:xfrm>
          <a:prstGeom prst="roundRect">
            <a:avLst>
              <a:gd name="adj" fmla="val 9247"/>
            </a:avLst>
          </a:prstGeom>
          <a:solidFill>
            <a:srgbClr val="030303"/>
          </a:solidFill>
          <a:ln w="15240">
            <a:solidFill>
              <a:srgbClr val="FC8337"/>
            </a:solidFill>
            <a:prstDash val="solid"/>
          </a:ln>
        </p:spPr>
        <p:txBody>
          <a:bodyPr/>
          <a:lstStyle/>
          <a:p>
            <a:endParaRPr lang="en-IN"/>
          </a:p>
        </p:txBody>
      </p:sp>
      <p:sp>
        <p:nvSpPr>
          <p:cNvPr id="14" name="Text 12"/>
          <p:cNvSpPr/>
          <p:nvPr/>
        </p:nvSpPr>
        <p:spPr>
          <a:xfrm>
            <a:off x="10461188" y="3379708"/>
            <a:ext cx="2102168" cy="260152"/>
          </a:xfrm>
          <a:prstGeom prst="rect">
            <a:avLst/>
          </a:prstGeom>
          <a:noFill/>
          <a:ln/>
        </p:spPr>
        <p:txBody>
          <a:bodyPr wrap="none" lIns="0" tIns="0" rIns="0" bIns="0" rtlCol="0" anchor="t"/>
          <a:lstStyle/>
          <a:p>
            <a:pPr marL="0" indent="0" algn="l">
              <a:lnSpc>
                <a:spcPts val="2000"/>
              </a:lnSpc>
              <a:buNone/>
            </a:pPr>
            <a:r>
              <a:rPr lang="en-US" sz="1600" dirty="0">
                <a:solidFill>
                  <a:srgbClr val="E5E0DF"/>
                </a:solidFill>
                <a:latin typeface="Saira Medium" pitchFamily="34" charset="0"/>
                <a:ea typeface="Saira Medium" pitchFamily="34" charset="-122"/>
                <a:cs typeface="Saira Medium" pitchFamily="34" charset="-120"/>
              </a:rPr>
              <a:t>Real-time data access</a:t>
            </a:r>
            <a:endParaRPr lang="en-US" sz="1600" dirty="0"/>
          </a:p>
        </p:txBody>
      </p:sp>
      <p:sp>
        <p:nvSpPr>
          <p:cNvPr id="15" name="Text 13"/>
          <p:cNvSpPr/>
          <p:nvPr/>
        </p:nvSpPr>
        <p:spPr>
          <a:xfrm>
            <a:off x="10461188" y="3713202"/>
            <a:ext cx="2417802" cy="692944"/>
          </a:xfrm>
          <a:prstGeom prst="rect">
            <a:avLst/>
          </a:prstGeom>
          <a:noFill/>
          <a:ln/>
        </p:spPr>
        <p:txBody>
          <a:bodyPr wrap="square" lIns="0" tIns="0" rIns="0" bIns="0" rtlCol="0" anchor="t"/>
          <a:lstStyle/>
          <a:p>
            <a:pPr marL="0" indent="0" algn="l">
              <a:lnSpc>
                <a:spcPts val="1800"/>
              </a:lnSpc>
              <a:buNone/>
            </a:pPr>
            <a:r>
              <a:rPr lang="en-US" sz="1300" dirty="0">
                <a:solidFill>
                  <a:srgbClr val="E5E0DF"/>
                </a:solidFill>
                <a:latin typeface="Roboto" pitchFamily="34" charset="0"/>
                <a:ea typeface="Roboto" pitchFamily="34" charset="-122"/>
                <a:cs typeface="Roboto" pitchFamily="34" charset="-120"/>
              </a:rPr>
              <a:t>Difficulty in obtaining and processing data instantly for immediate alerts.</a:t>
            </a:r>
            <a:endParaRPr lang="en-US" sz="1300" dirty="0"/>
          </a:p>
        </p:txBody>
      </p:sp>
      <p:sp>
        <p:nvSpPr>
          <p:cNvPr id="16" name="Shape 14"/>
          <p:cNvSpPr/>
          <p:nvPr/>
        </p:nvSpPr>
        <p:spPr>
          <a:xfrm>
            <a:off x="1569720" y="4940975"/>
            <a:ext cx="3748802" cy="1389817"/>
          </a:xfrm>
          <a:prstGeom prst="roundRect">
            <a:avLst>
              <a:gd name="adj" fmla="val 10784"/>
            </a:avLst>
          </a:prstGeom>
          <a:solidFill>
            <a:srgbClr val="030303"/>
          </a:solidFill>
          <a:ln w="15240">
            <a:solidFill>
              <a:srgbClr val="FC8337"/>
            </a:solidFill>
            <a:prstDash val="solid"/>
          </a:ln>
        </p:spPr>
        <p:txBody>
          <a:bodyPr/>
          <a:lstStyle/>
          <a:p>
            <a:endParaRPr lang="en-IN"/>
          </a:p>
        </p:txBody>
      </p:sp>
      <p:sp>
        <p:nvSpPr>
          <p:cNvPr id="17" name="Text 15"/>
          <p:cNvSpPr/>
          <p:nvPr/>
        </p:nvSpPr>
        <p:spPr>
          <a:xfrm>
            <a:off x="1751409" y="5122664"/>
            <a:ext cx="2081689" cy="260152"/>
          </a:xfrm>
          <a:prstGeom prst="rect">
            <a:avLst/>
          </a:prstGeom>
          <a:noFill/>
          <a:ln/>
        </p:spPr>
        <p:txBody>
          <a:bodyPr wrap="none" lIns="0" tIns="0" rIns="0" bIns="0" rtlCol="0" anchor="t"/>
          <a:lstStyle/>
          <a:p>
            <a:pPr marL="0" indent="0" algn="l">
              <a:lnSpc>
                <a:spcPts val="2000"/>
              </a:lnSpc>
              <a:buNone/>
            </a:pPr>
            <a:r>
              <a:rPr lang="en-US" sz="1600" dirty="0">
                <a:solidFill>
                  <a:srgbClr val="E5E0DF"/>
                </a:solidFill>
                <a:latin typeface="Saira Medium" pitchFamily="34" charset="0"/>
                <a:ea typeface="Saira Medium" pitchFamily="34" charset="-122"/>
                <a:cs typeface="Saira Medium" pitchFamily="34" charset="-120"/>
              </a:rPr>
              <a:t>Data heterogeneity</a:t>
            </a:r>
            <a:endParaRPr lang="en-US" sz="1600" dirty="0"/>
          </a:p>
        </p:txBody>
      </p:sp>
      <p:sp>
        <p:nvSpPr>
          <p:cNvPr id="18" name="Text 16"/>
          <p:cNvSpPr/>
          <p:nvPr/>
        </p:nvSpPr>
        <p:spPr>
          <a:xfrm>
            <a:off x="1751409" y="5456158"/>
            <a:ext cx="3385423" cy="692944"/>
          </a:xfrm>
          <a:prstGeom prst="rect">
            <a:avLst/>
          </a:prstGeom>
          <a:noFill/>
          <a:ln/>
        </p:spPr>
        <p:txBody>
          <a:bodyPr wrap="square" lIns="0" tIns="0" rIns="0" bIns="0" rtlCol="0" anchor="t"/>
          <a:lstStyle/>
          <a:p>
            <a:pPr marL="0" indent="0" algn="l">
              <a:lnSpc>
                <a:spcPts val="1800"/>
              </a:lnSpc>
              <a:buNone/>
            </a:pPr>
            <a:r>
              <a:rPr lang="en-US" sz="1300" dirty="0">
                <a:solidFill>
                  <a:srgbClr val="E5E0DF"/>
                </a:solidFill>
                <a:latin typeface="Roboto" pitchFamily="34" charset="0"/>
                <a:ea typeface="Roboto" pitchFamily="34" charset="-122"/>
                <a:cs typeface="Roboto" pitchFamily="34" charset="-120"/>
              </a:rPr>
              <a:t>Inconsistent formats and sources for different types of data, complicating integration.</a:t>
            </a:r>
            <a:endParaRPr lang="en-US" sz="1300" dirty="0"/>
          </a:p>
        </p:txBody>
      </p:sp>
      <p:sp>
        <p:nvSpPr>
          <p:cNvPr id="19" name="Shape 17"/>
          <p:cNvSpPr/>
          <p:nvPr/>
        </p:nvSpPr>
        <p:spPr>
          <a:xfrm>
            <a:off x="5440680" y="4940975"/>
            <a:ext cx="3748921" cy="1389817"/>
          </a:xfrm>
          <a:prstGeom prst="roundRect">
            <a:avLst>
              <a:gd name="adj" fmla="val 10784"/>
            </a:avLst>
          </a:prstGeom>
          <a:solidFill>
            <a:srgbClr val="030303"/>
          </a:solidFill>
          <a:ln w="15240">
            <a:solidFill>
              <a:srgbClr val="FC8337"/>
            </a:solidFill>
            <a:prstDash val="solid"/>
          </a:ln>
        </p:spPr>
        <p:txBody>
          <a:bodyPr/>
          <a:lstStyle/>
          <a:p>
            <a:endParaRPr lang="en-IN"/>
          </a:p>
        </p:txBody>
      </p:sp>
      <p:sp>
        <p:nvSpPr>
          <p:cNvPr id="20" name="Text 18"/>
          <p:cNvSpPr/>
          <p:nvPr/>
        </p:nvSpPr>
        <p:spPr>
          <a:xfrm>
            <a:off x="5622369" y="5122664"/>
            <a:ext cx="2293501" cy="260152"/>
          </a:xfrm>
          <a:prstGeom prst="rect">
            <a:avLst/>
          </a:prstGeom>
          <a:noFill/>
          <a:ln/>
        </p:spPr>
        <p:txBody>
          <a:bodyPr wrap="none" lIns="0" tIns="0" rIns="0" bIns="0" rtlCol="0" anchor="t"/>
          <a:lstStyle/>
          <a:p>
            <a:pPr marL="0" indent="0" algn="l">
              <a:lnSpc>
                <a:spcPts val="2000"/>
              </a:lnSpc>
              <a:buNone/>
            </a:pPr>
            <a:r>
              <a:rPr lang="en-US" sz="1600" dirty="0">
                <a:solidFill>
                  <a:srgbClr val="E5E0DF"/>
                </a:solidFill>
                <a:latin typeface="Saira Medium" pitchFamily="34" charset="0"/>
                <a:ea typeface="Saira Medium" pitchFamily="34" charset="-122"/>
                <a:cs typeface="Saira Medium" pitchFamily="34" charset="-120"/>
              </a:rPr>
              <a:t>Missing &amp; noisy records</a:t>
            </a:r>
            <a:endParaRPr lang="en-US" sz="1600" dirty="0"/>
          </a:p>
        </p:txBody>
      </p:sp>
      <p:sp>
        <p:nvSpPr>
          <p:cNvPr id="21" name="Text 19"/>
          <p:cNvSpPr/>
          <p:nvPr/>
        </p:nvSpPr>
        <p:spPr>
          <a:xfrm>
            <a:off x="5622369" y="5456158"/>
            <a:ext cx="3385542" cy="461963"/>
          </a:xfrm>
          <a:prstGeom prst="rect">
            <a:avLst/>
          </a:prstGeom>
          <a:noFill/>
          <a:ln/>
        </p:spPr>
        <p:txBody>
          <a:bodyPr wrap="square" lIns="0" tIns="0" rIns="0" bIns="0" rtlCol="0" anchor="t"/>
          <a:lstStyle/>
          <a:p>
            <a:pPr marL="0" indent="0" algn="l">
              <a:lnSpc>
                <a:spcPts val="1800"/>
              </a:lnSpc>
              <a:buNone/>
            </a:pPr>
            <a:r>
              <a:rPr lang="en-US" sz="1300" dirty="0">
                <a:solidFill>
                  <a:srgbClr val="E5E0DF"/>
                </a:solidFill>
                <a:latin typeface="Roboto" pitchFamily="34" charset="0"/>
                <a:ea typeface="Roboto" pitchFamily="34" charset="-122"/>
                <a:cs typeface="Roboto" pitchFamily="34" charset="-120"/>
              </a:rPr>
              <a:t>Gaps and errors in available datasets can impact model accuracy and reliability.</a:t>
            </a:r>
            <a:endParaRPr lang="en-US" sz="1300" dirty="0"/>
          </a:p>
        </p:txBody>
      </p:sp>
      <p:sp>
        <p:nvSpPr>
          <p:cNvPr id="22" name="Shape 20"/>
          <p:cNvSpPr/>
          <p:nvPr/>
        </p:nvSpPr>
        <p:spPr>
          <a:xfrm>
            <a:off x="9311759" y="4940975"/>
            <a:ext cx="3748921" cy="1389817"/>
          </a:xfrm>
          <a:prstGeom prst="roundRect">
            <a:avLst>
              <a:gd name="adj" fmla="val 10784"/>
            </a:avLst>
          </a:prstGeom>
          <a:solidFill>
            <a:srgbClr val="030303"/>
          </a:solidFill>
          <a:ln w="15240">
            <a:solidFill>
              <a:srgbClr val="FC8337"/>
            </a:solidFill>
            <a:prstDash val="solid"/>
          </a:ln>
        </p:spPr>
        <p:txBody>
          <a:bodyPr/>
          <a:lstStyle/>
          <a:p>
            <a:endParaRPr lang="en-IN"/>
          </a:p>
        </p:txBody>
      </p:sp>
      <p:sp>
        <p:nvSpPr>
          <p:cNvPr id="23" name="Text 21"/>
          <p:cNvSpPr/>
          <p:nvPr/>
        </p:nvSpPr>
        <p:spPr>
          <a:xfrm>
            <a:off x="9493448" y="5122664"/>
            <a:ext cx="2081689" cy="260152"/>
          </a:xfrm>
          <a:prstGeom prst="rect">
            <a:avLst/>
          </a:prstGeom>
          <a:noFill/>
          <a:ln/>
        </p:spPr>
        <p:txBody>
          <a:bodyPr wrap="none" lIns="0" tIns="0" rIns="0" bIns="0" rtlCol="0" anchor="t"/>
          <a:lstStyle/>
          <a:p>
            <a:pPr marL="0" indent="0" algn="l">
              <a:lnSpc>
                <a:spcPts val="2000"/>
              </a:lnSpc>
              <a:buNone/>
            </a:pPr>
            <a:r>
              <a:rPr lang="en-US" sz="1600" dirty="0">
                <a:solidFill>
                  <a:srgbClr val="E5E0DF"/>
                </a:solidFill>
                <a:latin typeface="Saira Medium" pitchFamily="34" charset="0"/>
                <a:ea typeface="Saira Medium" pitchFamily="34" charset="-122"/>
                <a:cs typeface="Saira Medium" pitchFamily="34" charset="-120"/>
              </a:rPr>
              <a:t>Generalisation</a:t>
            </a:r>
            <a:endParaRPr lang="en-US" sz="1600" dirty="0"/>
          </a:p>
        </p:txBody>
      </p:sp>
      <p:sp>
        <p:nvSpPr>
          <p:cNvPr id="24" name="Text 22"/>
          <p:cNvSpPr/>
          <p:nvPr/>
        </p:nvSpPr>
        <p:spPr>
          <a:xfrm>
            <a:off x="9493448" y="5456158"/>
            <a:ext cx="3385542" cy="692944"/>
          </a:xfrm>
          <a:prstGeom prst="rect">
            <a:avLst/>
          </a:prstGeom>
          <a:noFill/>
          <a:ln/>
        </p:spPr>
        <p:txBody>
          <a:bodyPr wrap="square" lIns="0" tIns="0" rIns="0" bIns="0" rtlCol="0" anchor="t"/>
          <a:lstStyle/>
          <a:p>
            <a:pPr marL="0" indent="0" algn="l">
              <a:lnSpc>
                <a:spcPts val="1800"/>
              </a:lnSpc>
              <a:buNone/>
            </a:pPr>
            <a:r>
              <a:rPr lang="en-US" sz="1300" dirty="0">
                <a:solidFill>
                  <a:srgbClr val="E5E0DF"/>
                </a:solidFill>
                <a:latin typeface="Roboto" pitchFamily="34" charset="0"/>
                <a:ea typeface="Roboto" pitchFamily="34" charset="-122"/>
                <a:cs typeface="Roboto" pitchFamily="34" charset="-120"/>
              </a:rPr>
              <a:t>Ensuring the model performs effectively across diverse geographic areas and varying conditions.</a:t>
            </a:r>
            <a:endParaRPr lang="en-US" sz="1300" dirty="0"/>
          </a:p>
        </p:txBody>
      </p:sp>
      <p:sp>
        <p:nvSpPr>
          <p:cNvPr id="25" name="Text 23"/>
          <p:cNvSpPr/>
          <p:nvPr/>
        </p:nvSpPr>
        <p:spPr>
          <a:xfrm>
            <a:off x="1569720" y="6468308"/>
            <a:ext cx="11490960" cy="230981"/>
          </a:xfrm>
          <a:prstGeom prst="rect">
            <a:avLst/>
          </a:prstGeom>
          <a:noFill/>
          <a:ln/>
        </p:spPr>
        <p:txBody>
          <a:bodyPr wrap="none" lIns="0" tIns="0" rIns="0" bIns="0" rtlCol="0" anchor="t"/>
          <a:lstStyle/>
          <a:p>
            <a:pPr marL="0" indent="0" algn="r">
              <a:lnSpc>
                <a:spcPts val="1800"/>
              </a:lnSpc>
              <a:buNone/>
            </a:pPr>
            <a:r>
              <a:rPr lang="en-US" sz="1300" dirty="0">
                <a:solidFill>
                  <a:srgbClr val="E5E0DF"/>
                </a:solidFill>
                <a:latin typeface="Roboto" pitchFamily="34" charset="0"/>
                <a:ea typeface="Roboto" pitchFamily="34" charset="-122"/>
                <a:cs typeface="Roboto" pitchFamily="34" charset="-120"/>
              </a:rPr>
              <a:t>06</a:t>
            </a:r>
            <a:endParaRPr lang="en-US" sz="1300" dirty="0"/>
          </a:p>
        </p:txBody>
      </p:sp>
      <p:pic>
        <p:nvPicPr>
          <p:cNvPr id="27" name="Picture 26">
            <a:extLst>
              <a:ext uri="{FF2B5EF4-FFF2-40B4-BE49-F238E27FC236}">
                <a16:creationId xmlns:a16="http://schemas.microsoft.com/office/drawing/2014/main" id="{3CCF1304-EFC0-4178-BC5D-533E24C2FAD5}"/>
              </a:ext>
            </a:extLst>
          </p:cNvPr>
          <p:cNvPicPr>
            <a:picLocks noChangeAspect="1"/>
          </p:cNvPicPr>
          <p:nvPr/>
        </p:nvPicPr>
        <p:blipFill>
          <a:blip r:embed="rId3"/>
          <a:stretch>
            <a:fillRect/>
          </a:stretch>
        </p:blipFill>
        <p:spPr>
          <a:xfrm>
            <a:off x="50681" y="701631"/>
            <a:ext cx="619211" cy="62873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658892"/>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FFFFFF"/>
                </a:solidFill>
                <a:latin typeface="Saira Medium" pitchFamily="34" charset="0"/>
                <a:ea typeface="Saira Medium" pitchFamily="34" charset="-122"/>
                <a:cs typeface="Saira Medium" pitchFamily="34" charset="-120"/>
              </a:rPr>
              <a:t>Challenges</a:t>
            </a:r>
            <a:endParaRPr lang="en-US" sz="4450" dirty="0"/>
          </a:p>
        </p:txBody>
      </p:sp>
      <p:sp>
        <p:nvSpPr>
          <p:cNvPr id="4" name="Shape 1"/>
          <p:cNvSpPr/>
          <p:nvPr/>
        </p:nvSpPr>
        <p:spPr>
          <a:xfrm>
            <a:off x="793790" y="1828324"/>
            <a:ext cx="113348" cy="113348"/>
          </a:xfrm>
          <a:prstGeom prst="roundRect">
            <a:avLst>
              <a:gd name="adj" fmla="val 403360"/>
            </a:avLst>
          </a:prstGeom>
          <a:solidFill>
            <a:srgbClr val="FC8337"/>
          </a:solidFill>
          <a:ln/>
        </p:spPr>
        <p:txBody>
          <a:bodyPr/>
          <a:lstStyle/>
          <a:p>
            <a:endParaRPr lang="en-IN"/>
          </a:p>
        </p:txBody>
      </p:sp>
      <p:sp>
        <p:nvSpPr>
          <p:cNvPr id="5" name="Text 2"/>
          <p:cNvSpPr/>
          <p:nvPr/>
        </p:nvSpPr>
        <p:spPr>
          <a:xfrm>
            <a:off x="1133951" y="1707832"/>
            <a:ext cx="2863810"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Saira Medium" pitchFamily="34" charset="0"/>
                <a:ea typeface="Saira Medium" pitchFamily="34" charset="-122"/>
                <a:cs typeface="Saira Medium" pitchFamily="34" charset="-120"/>
              </a:rPr>
              <a:t>Real‑time data access</a:t>
            </a:r>
            <a:endParaRPr lang="en-US" sz="2200" dirty="0"/>
          </a:p>
        </p:txBody>
      </p:sp>
      <p:sp>
        <p:nvSpPr>
          <p:cNvPr id="6" name="Text 3"/>
          <p:cNvSpPr/>
          <p:nvPr/>
        </p:nvSpPr>
        <p:spPr>
          <a:xfrm>
            <a:off x="1133951" y="2198251"/>
            <a:ext cx="7216259" cy="362903"/>
          </a:xfrm>
          <a:prstGeom prst="rect">
            <a:avLst/>
          </a:prstGeom>
          <a:noFill/>
          <a:ln/>
        </p:spPr>
        <p:txBody>
          <a:bodyPr wrap="none" lIns="0" tIns="0" rIns="0" bIns="0" rtlCol="0" anchor="t"/>
          <a:lstStyle/>
          <a:p>
            <a:pPr marL="0" indent="0" algn="l">
              <a:lnSpc>
                <a:spcPts val="2850"/>
              </a:lnSpc>
              <a:buNone/>
            </a:pPr>
            <a:r>
              <a:rPr lang="en-US" sz="1750" dirty="0">
                <a:solidFill>
                  <a:srgbClr val="E5E0DF"/>
                </a:solidFill>
                <a:latin typeface="Roboto" pitchFamily="34" charset="0"/>
                <a:ea typeface="Roboto" pitchFamily="34" charset="-122"/>
                <a:cs typeface="Roboto" pitchFamily="34" charset="-120"/>
              </a:rPr>
              <a:t>Hospital reporting delays and restricted access limit timeliness.</a:t>
            </a:r>
            <a:endParaRPr lang="en-US" sz="1750" dirty="0"/>
          </a:p>
        </p:txBody>
      </p:sp>
      <p:sp>
        <p:nvSpPr>
          <p:cNvPr id="7" name="Shape 4"/>
          <p:cNvSpPr/>
          <p:nvPr/>
        </p:nvSpPr>
        <p:spPr>
          <a:xfrm>
            <a:off x="793790" y="3135273"/>
            <a:ext cx="113348" cy="113348"/>
          </a:xfrm>
          <a:prstGeom prst="roundRect">
            <a:avLst>
              <a:gd name="adj" fmla="val 403360"/>
            </a:avLst>
          </a:prstGeom>
          <a:solidFill>
            <a:srgbClr val="FC8337"/>
          </a:solidFill>
          <a:ln/>
        </p:spPr>
        <p:txBody>
          <a:bodyPr/>
          <a:lstStyle/>
          <a:p>
            <a:endParaRPr lang="en-IN"/>
          </a:p>
        </p:txBody>
      </p:sp>
      <p:sp>
        <p:nvSpPr>
          <p:cNvPr id="8" name="Text 5"/>
          <p:cNvSpPr/>
          <p:nvPr/>
        </p:nvSpPr>
        <p:spPr>
          <a:xfrm>
            <a:off x="1133951" y="301478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Saira Medium" pitchFamily="34" charset="0"/>
                <a:ea typeface="Saira Medium" pitchFamily="34" charset="-122"/>
                <a:cs typeface="Saira Medium" pitchFamily="34" charset="-120"/>
              </a:rPr>
              <a:t>Data heterogeneity</a:t>
            </a:r>
            <a:endParaRPr lang="en-US" sz="2200" dirty="0"/>
          </a:p>
        </p:txBody>
      </p:sp>
      <p:sp>
        <p:nvSpPr>
          <p:cNvPr id="9" name="Text 6"/>
          <p:cNvSpPr/>
          <p:nvPr/>
        </p:nvSpPr>
        <p:spPr>
          <a:xfrm>
            <a:off x="1133951" y="3505200"/>
            <a:ext cx="7216259" cy="725805"/>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pitchFamily="34" charset="0"/>
                <a:ea typeface="Roboto" pitchFamily="34" charset="-122"/>
                <a:cs typeface="Roboto" pitchFamily="34" charset="-120"/>
              </a:rPr>
              <a:t>Variation in sampling methods, units and quality across regions complicates modelling.</a:t>
            </a:r>
            <a:endParaRPr lang="en-US" sz="1750" dirty="0"/>
          </a:p>
        </p:txBody>
      </p:sp>
      <p:sp>
        <p:nvSpPr>
          <p:cNvPr id="10" name="Shape 7"/>
          <p:cNvSpPr/>
          <p:nvPr/>
        </p:nvSpPr>
        <p:spPr>
          <a:xfrm>
            <a:off x="793790" y="4805124"/>
            <a:ext cx="113348" cy="113348"/>
          </a:xfrm>
          <a:prstGeom prst="roundRect">
            <a:avLst>
              <a:gd name="adj" fmla="val 403360"/>
            </a:avLst>
          </a:prstGeom>
          <a:solidFill>
            <a:srgbClr val="FC8337"/>
          </a:solidFill>
          <a:ln/>
        </p:spPr>
        <p:txBody>
          <a:bodyPr/>
          <a:lstStyle/>
          <a:p>
            <a:endParaRPr lang="en-IN"/>
          </a:p>
        </p:txBody>
      </p:sp>
      <p:sp>
        <p:nvSpPr>
          <p:cNvPr id="11" name="Text 8"/>
          <p:cNvSpPr/>
          <p:nvPr/>
        </p:nvSpPr>
        <p:spPr>
          <a:xfrm>
            <a:off x="1133951" y="4684633"/>
            <a:ext cx="3124438"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Saira Medium" pitchFamily="34" charset="0"/>
                <a:ea typeface="Saira Medium" pitchFamily="34" charset="-122"/>
                <a:cs typeface="Saira Medium" pitchFamily="34" charset="-120"/>
              </a:rPr>
              <a:t>Missing &amp; noisy records</a:t>
            </a:r>
            <a:endParaRPr lang="en-US" sz="2200" dirty="0"/>
          </a:p>
        </p:txBody>
      </p:sp>
      <p:sp>
        <p:nvSpPr>
          <p:cNvPr id="12" name="Text 9"/>
          <p:cNvSpPr/>
          <p:nvPr/>
        </p:nvSpPr>
        <p:spPr>
          <a:xfrm>
            <a:off x="1133951" y="5175052"/>
            <a:ext cx="7216259" cy="725805"/>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pitchFamily="34" charset="0"/>
                <a:ea typeface="Roboto" pitchFamily="34" charset="-122"/>
                <a:cs typeface="Roboto" pitchFamily="34" charset="-120"/>
              </a:rPr>
              <a:t>Non‑uniform contamination logs and sensor outages introduce uncertainty.</a:t>
            </a:r>
            <a:endParaRPr lang="en-US" sz="1750" dirty="0"/>
          </a:p>
        </p:txBody>
      </p:sp>
      <p:sp>
        <p:nvSpPr>
          <p:cNvPr id="13" name="Shape 10"/>
          <p:cNvSpPr/>
          <p:nvPr/>
        </p:nvSpPr>
        <p:spPr>
          <a:xfrm>
            <a:off x="793790" y="6474976"/>
            <a:ext cx="113348" cy="113348"/>
          </a:xfrm>
          <a:prstGeom prst="roundRect">
            <a:avLst>
              <a:gd name="adj" fmla="val 403360"/>
            </a:avLst>
          </a:prstGeom>
          <a:solidFill>
            <a:srgbClr val="FC8337"/>
          </a:solidFill>
          <a:ln/>
        </p:spPr>
        <p:txBody>
          <a:bodyPr/>
          <a:lstStyle/>
          <a:p>
            <a:endParaRPr lang="en-IN"/>
          </a:p>
        </p:txBody>
      </p:sp>
      <p:sp>
        <p:nvSpPr>
          <p:cNvPr id="14" name="Text 11"/>
          <p:cNvSpPr/>
          <p:nvPr/>
        </p:nvSpPr>
        <p:spPr>
          <a:xfrm>
            <a:off x="1133951" y="635448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Saira Medium" pitchFamily="34" charset="0"/>
                <a:ea typeface="Saira Medium" pitchFamily="34" charset="-122"/>
                <a:cs typeface="Saira Medium" pitchFamily="34" charset="-120"/>
              </a:rPr>
              <a:t>Generalisation</a:t>
            </a:r>
            <a:endParaRPr lang="en-US" sz="2200" dirty="0"/>
          </a:p>
        </p:txBody>
      </p:sp>
      <p:sp>
        <p:nvSpPr>
          <p:cNvPr id="15" name="Text 12"/>
          <p:cNvSpPr/>
          <p:nvPr/>
        </p:nvSpPr>
        <p:spPr>
          <a:xfrm>
            <a:off x="1133951" y="6844903"/>
            <a:ext cx="7216259" cy="725805"/>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pitchFamily="34" charset="0"/>
                <a:ea typeface="Roboto" pitchFamily="34" charset="-122"/>
                <a:cs typeface="Roboto" pitchFamily="34" charset="-120"/>
              </a:rPr>
              <a:t>Models trained in one area may underperform elsewhere without careful calibration.</a:t>
            </a:r>
            <a:endParaRPr lang="en-US" sz="1750" dirty="0"/>
          </a:p>
        </p:txBody>
      </p:sp>
      <p:pic>
        <p:nvPicPr>
          <p:cNvPr id="17" name="Picture 16">
            <a:extLst>
              <a:ext uri="{FF2B5EF4-FFF2-40B4-BE49-F238E27FC236}">
                <a16:creationId xmlns:a16="http://schemas.microsoft.com/office/drawing/2014/main" id="{FBD1AC4E-DB91-D5C6-7993-037B08959654}"/>
              </a:ext>
            </a:extLst>
          </p:cNvPr>
          <p:cNvPicPr>
            <a:picLocks noChangeAspect="1"/>
          </p:cNvPicPr>
          <p:nvPr/>
        </p:nvPicPr>
        <p:blipFill>
          <a:blip r:embed="rId4"/>
          <a:stretch>
            <a:fillRect/>
          </a:stretch>
        </p:blipFill>
        <p:spPr>
          <a:xfrm>
            <a:off x="0" y="698912"/>
            <a:ext cx="619211" cy="62873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738307"/>
            <a:ext cx="5803583" cy="708779"/>
          </a:xfrm>
          <a:prstGeom prst="rect">
            <a:avLst/>
          </a:prstGeom>
          <a:noFill/>
          <a:ln/>
        </p:spPr>
        <p:txBody>
          <a:bodyPr wrap="none" lIns="0" tIns="0" rIns="0" bIns="0" rtlCol="0" anchor="t"/>
          <a:lstStyle/>
          <a:p>
            <a:pPr marL="0" indent="0" algn="l">
              <a:lnSpc>
                <a:spcPts val="5550"/>
              </a:lnSpc>
              <a:buNone/>
            </a:pPr>
            <a:r>
              <a:rPr lang="en-US" sz="4450" dirty="0">
                <a:solidFill>
                  <a:srgbClr val="FFFFFF"/>
                </a:solidFill>
                <a:latin typeface="Saira Medium" pitchFamily="34" charset="0"/>
                <a:ea typeface="Saira Medium" pitchFamily="34" charset="-122"/>
                <a:cs typeface="Saira Medium" pitchFamily="34" charset="-120"/>
              </a:rPr>
              <a:t>Research &amp; Reference</a:t>
            </a:r>
            <a:endParaRPr lang="en-US" sz="4450" dirty="0"/>
          </a:p>
        </p:txBody>
      </p:sp>
      <p:sp>
        <p:nvSpPr>
          <p:cNvPr id="4" name="Text 1"/>
          <p:cNvSpPr/>
          <p:nvPr/>
        </p:nvSpPr>
        <p:spPr>
          <a:xfrm>
            <a:off x="793790" y="1787247"/>
            <a:ext cx="7556421" cy="1088708"/>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pitchFamily="34" charset="0"/>
                <a:ea typeface="Roboto" pitchFamily="34" charset="-122"/>
                <a:cs typeface="Roboto" pitchFamily="34" charset="-120"/>
              </a:rPr>
              <a:t>Primary public data and literature underpin model design and validation. Key sources and evidence inform data selection, lag assumptions and operational thresholds.</a:t>
            </a:r>
            <a:endParaRPr lang="en-US" sz="1750" dirty="0"/>
          </a:p>
        </p:txBody>
      </p:sp>
      <p:sp>
        <p:nvSpPr>
          <p:cNvPr id="5" name="Text 2"/>
          <p:cNvSpPr/>
          <p:nvPr/>
        </p:nvSpPr>
        <p:spPr>
          <a:xfrm>
            <a:off x="793790" y="3131106"/>
            <a:ext cx="7556421" cy="2415302"/>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E5E0DF"/>
                </a:solidFill>
                <a:latin typeface="Roboto" pitchFamily="34" charset="0"/>
                <a:ea typeface="Roboto" pitchFamily="34" charset="-122"/>
                <a:cs typeface="Roboto" pitchFamily="34" charset="-120"/>
              </a:rPr>
              <a:t>Government data: IDSP, CPCB, Jal Jeevan Mission, data.gov.in</a:t>
            </a:r>
            <a:endParaRPr lang="en-US" sz="1750" dirty="0"/>
          </a:p>
          <a:p>
            <a:pPr marL="342900" indent="-342900" algn="l">
              <a:lnSpc>
                <a:spcPts val="2850"/>
              </a:lnSpc>
              <a:buSzPct val="100000"/>
              <a:buChar char="•"/>
            </a:pPr>
            <a:r>
              <a:rPr lang="en-US" sz="1750" dirty="0">
                <a:solidFill>
                  <a:srgbClr val="E5E0DF"/>
                </a:solidFill>
                <a:latin typeface="Roboto" pitchFamily="34" charset="0"/>
                <a:ea typeface="Roboto" pitchFamily="34" charset="-122"/>
                <a:cs typeface="Roboto" pitchFamily="34" charset="-120"/>
              </a:rPr>
              <a:t>WHO reports on water‑borne disease epidemiology</a:t>
            </a:r>
            <a:endParaRPr lang="en-US" sz="1750" dirty="0"/>
          </a:p>
          <a:p>
            <a:pPr marL="342900" indent="-342900" algn="l">
              <a:lnSpc>
                <a:spcPts val="2850"/>
              </a:lnSpc>
              <a:buSzPct val="100000"/>
              <a:buChar char="•"/>
            </a:pPr>
            <a:r>
              <a:rPr lang="en-US" sz="1750" dirty="0">
                <a:solidFill>
                  <a:srgbClr val="E5E0DF"/>
                </a:solidFill>
                <a:latin typeface="Roboto" pitchFamily="34" charset="0"/>
                <a:ea typeface="Roboto" pitchFamily="34" charset="-122"/>
                <a:cs typeface="Roboto" pitchFamily="34" charset="-120"/>
              </a:rPr>
              <a:t>Peer‑reviewed studies documenting 1–3 day lags between contamination spikes and case rises</a:t>
            </a:r>
            <a:endParaRPr lang="en-US" sz="1750" dirty="0"/>
          </a:p>
          <a:p>
            <a:pPr marL="342900" indent="-342900" algn="l">
              <a:lnSpc>
                <a:spcPts val="2850"/>
              </a:lnSpc>
              <a:buSzPct val="100000"/>
              <a:buChar char="•"/>
            </a:pPr>
            <a:r>
              <a:rPr lang="en-US" sz="1750" dirty="0">
                <a:solidFill>
                  <a:srgbClr val="E5E0DF"/>
                </a:solidFill>
                <a:latin typeface="Roboto" pitchFamily="34" charset="0"/>
                <a:ea typeface="Roboto" pitchFamily="34" charset="-122"/>
                <a:cs typeface="Roboto" pitchFamily="34" charset="-120"/>
              </a:rPr>
              <a:t>Operational dashboards and municipal sensor networks for pilot integration</a:t>
            </a:r>
            <a:endParaRPr lang="en-US" sz="1750" dirty="0"/>
          </a:p>
        </p:txBody>
      </p:sp>
      <p:pic>
        <p:nvPicPr>
          <p:cNvPr id="7" name="Image 1" descr="preencoded.png"/>
          <p:cNvPicPr>
            <a:picLocks noChangeAspect="1"/>
          </p:cNvPicPr>
          <p:nvPr/>
        </p:nvPicPr>
        <p:blipFill>
          <a:blip r:embed="rId4"/>
          <a:stretch>
            <a:fillRect/>
          </a:stretch>
        </p:blipFill>
        <p:spPr>
          <a:xfrm>
            <a:off x="1020604" y="6145649"/>
            <a:ext cx="283488" cy="226814"/>
          </a:xfrm>
          <a:prstGeom prst="rect">
            <a:avLst/>
          </a:prstGeom>
        </p:spPr>
      </p:pic>
      <p:sp>
        <p:nvSpPr>
          <p:cNvPr id="8" name="Text 4"/>
          <p:cNvSpPr/>
          <p:nvPr/>
        </p:nvSpPr>
        <p:spPr>
          <a:xfrm>
            <a:off x="1530906" y="6085046"/>
            <a:ext cx="6592491" cy="1088708"/>
          </a:xfrm>
          <a:prstGeom prst="rect">
            <a:avLst/>
          </a:prstGeom>
          <a:noFill/>
          <a:ln/>
        </p:spPr>
        <p:txBody>
          <a:bodyPr wrap="square" lIns="0" tIns="0" rIns="0" bIns="0" rtlCol="0" anchor="t"/>
          <a:lstStyle/>
          <a:p>
            <a:pPr marL="0" indent="0" algn="l">
              <a:lnSpc>
                <a:spcPts val="2850"/>
              </a:lnSpc>
              <a:buNone/>
            </a:pPr>
            <a:r>
              <a:rPr lang="en-US" sz="1750" dirty="0">
                <a:solidFill>
                  <a:srgbClr val="FFFFFF"/>
                </a:solidFill>
                <a:latin typeface="Roboto" pitchFamily="34" charset="0"/>
                <a:ea typeface="Roboto" pitchFamily="34" charset="-122"/>
                <a:cs typeface="Roboto" pitchFamily="34" charset="-120"/>
              </a:rPr>
              <a:t>For implementation: agree data‑sharing MOUs, define alert thresholds with local health teams and run a three‑month pilot to validate sensitivity and specificity before scale‑up.</a:t>
            </a:r>
            <a:endParaRPr lang="en-US" sz="1750" dirty="0"/>
          </a:p>
        </p:txBody>
      </p:sp>
      <p:pic>
        <p:nvPicPr>
          <p:cNvPr id="10" name="Picture 9">
            <a:extLst>
              <a:ext uri="{FF2B5EF4-FFF2-40B4-BE49-F238E27FC236}">
                <a16:creationId xmlns:a16="http://schemas.microsoft.com/office/drawing/2014/main" id="{F1D32E91-A478-47E0-B399-BE9150A84295}"/>
              </a:ext>
            </a:extLst>
          </p:cNvPr>
          <p:cNvPicPr>
            <a:picLocks noChangeAspect="1"/>
          </p:cNvPicPr>
          <p:nvPr/>
        </p:nvPicPr>
        <p:blipFill>
          <a:blip r:embed="rId5"/>
          <a:stretch>
            <a:fillRect/>
          </a:stretch>
        </p:blipFill>
        <p:spPr>
          <a:xfrm>
            <a:off x="0" y="300807"/>
            <a:ext cx="619211" cy="62873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TotalTime>
  <Words>927</Words>
  <Application>Microsoft Office PowerPoint</Application>
  <PresentationFormat>Custom</PresentationFormat>
  <Paragraphs>149</Paragraphs>
  <Slides>12</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Trebuchet MS</vt:lpstr>
      <vt:lpstr>Roboto</vt:lpstr>
      <vt:lpstr>Arial</vt:lpstr>
      <vt:lpstr>Saira Medium</vt:lpstr>
      <vt:lpstr>Saira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Tarun yadav</cp:lastModifiedBy>
  <cp:revision>3</cp:revision>
  <dcterms:created xsi:type="dcterms:W3CDTF">2026-02-18T13:47:35Z</dcterms:created>
  <dcterms:modified xsi:type="dcterms:W3CDTF">2026-02-18T14:54:03Z</dcterms:modified>
</cp:coreProperties>
</file>